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8" r:id="rId4"/>
    <p:sldId id="259" r:id="rId5"/>
    <p:sldId id="267" r:id="rId6"/>
    <p:sldId id="266" r:id="rId7"/>
    <p:sldId id="260" r:id="rId8"/>
    <p:sldId id="265" r:id="rId10"/>
    <p:sldId id="264" r:id="rId11"/>
    <p:sldId id="268" r:id="rId12"/>
    <p:sldId id="269" r:id="rId13"/>
    <p:sldId id="271" r:id="rId14"/>
    <p:sldId id="270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Προεπιλεγμένη ενότητα" id="{294D6824-66EF-41CB-8EB2-ABE9C6430EA1}">
          <p14:sldIdLst>
            <p14:sldId id="256"/>
            <p14:sldId id="258"/>
            <p14:sldId id="259"/>
            <p14:sldId id="267"/>
            <p14:sldId id="266"/>
            <p14:sldId id="260"/>
            <p14:sldId id="265"/>
            <p14:sldId id="264"/>
          </p14:sldIdLst>
        </p14:section>
        <p14:section name="bonus" id="{638D6525-98F7-4520-84AA-0B014884D748}">
          <p14:sldIdLst>
            <p14:sldId id="268"/>
            <p14:sldId id="269"/>
            <p14:sldId id="271"/>
            <p14:sldId id="270"/>
            <p14:sldId id="272"/>
            <p14:sldId id="273"/>
            <p14:sldId id="274"/>
          </p14:sldIdLst>
        </p14:section>
        <p14:section name="Ενότητα χωρίς τίτλο" id="{BDEC87AA-DFC6-4D47-AE4F-079B06DCDD63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0DEC5F-1FB2-499A-84A5-1249AA1C89D7}" type="doc">
      <dgm:prSet loTypeId="urn:microsoft.com/office/officeart/2016/7/layout/LinearBlockProcessNumbered#1" loCatId="process" qsTypeId="urn:microsoft.com/office/officeart/2005/8/quickstyle/simple3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A1836D02-DC2E-4C35-8774-331D128FAC52}">
      <dgm:prSet custT="1"/>
      <dgm:spPr/>
      <dgm:t>
        <a:bodyPr/>
        <a:lstStyle/>
        <a:p>
          <a:r>
            <a:rPr lang="el-GR" sz="1400" b="1" i="0" baseline="0" dirty="0"/>
            <a:t>Διαχείριση ακραίων τιμών </a:t>
          </a:r>
          <a:br>
            <a:rPr lang="el-GR" sz="1400" b="0" i="0" baseline="0" dirty="0"/>
          </a:br>
          <a:r>
            <a:rPr lang="el-GR" sz="1400" b="0" i="0" baseline="0" dirty="0"/>
            <a:t>Ανιχνεύονται και αντικαθίστανται </a:t>
          </a:r>
          <a:r>
            <a:rPr lang="el-GR" sz="1400" b="0" i="0" baseline="0" dirty="0" err="1"/>
            <a:t>infinite</a:t>
          </a:r>
          <a:r>
            <a:rPr lang="el-GR" sz="1400" b="0" i="0" baseline="0" dirty="0"/>
            <a:t> τιμές με </a:t>
          </a:r>
          <a:r>
            <a:rPr lang="el-GR" sz="1400" b="0" i="0" baseline="0" dirty="0" err="1"/>
            <a:t>NaN</a:t>
          </a:r>
          <a:r>
            <a:rPr lang="el-GR" sz="1400" b="0" i="0" baseline="0" dirty="0"/>
            <a:t> </a:t>
          </a:r>
          <a:endParaRPr lang="en-US" sz="1400" dirty="0"/>
        </a:p>
      </dgm:t>
    </dgm:pt>
    <dgm:pt modelId="{0797A978-0B01-4219-A7B8-32E4067D7F4E}" cxnId="{B3150762-98ED-459D-AC86-457B0ECAB19D}" type="parTrans">
      <dgm:prSet/>
      <dgm:spPr/>
      <dgm:t>
        <a:bodyPr/>
        <a:lstStyle/>
        <a:p>
          <a:endParaRPr lang="en-US"/>
        </a:p>
      </dgm:t>
    </dgm:pt>
    <dgm:pt modelId="{B39E2B78-3F8D-40AA-8B6B-D24731EA2A31}" cxnId="{B3150762-98ED-459D-AC86-457B0ECAB19D}" type="sibTrans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8C1A3FA-04BF-4EE1-8517-20C3B8630465}">
      <dgm:prSet custT="1"/>
      <dgm:spPr/>
      <dgm:t>
        <a:bodyPr/>
        <a:lstStyle/>
        <a:p>
          <a:r>
            <a:rPr lang="el-GR" sz="1400" b="1" i="0" baseline="0"/>
            <a:t>Αφαίρεση ελλιπών δεδομένων</a:t>
          </a:r>
          <a:br>
            <a:rPr lang="el-GR" sz="1400" b="0" i="0" baseline="0"/>
          </a:br>
          <a:r>
            <a:rPr lang="el-GR" sz="1400" b="0" i="0" baseline="0"/>
            <a:t>Γραμμές με NaN απορρίπτονται ώστε να διασφαλιστεί καθαρό input</a:t>
          </a:r>
          <a:endParaRPr lang="en-US" sz="1400" dirty="0"/>
        </a:p>
      </dgm:t>
    </dgm:pt>
    <dgm:pt modelId="{1A30DD8F-4E88-4034-981C-A6836107356A}" cxnId="{7A7E3BCB-65E6-423C-A3EF-BB676F63AC99}" type="parTrans">
      <dgm:prSet/>
      <dgm:spPr/>
      <dgm:t>
        <a:bodyPr/>
        <a:lstStyle/>
        <a:p>
          <a:endParaRPr lang="en-US"/>
        </a:p>
      </dgm:t>
    </dgm:pt>
    <dgm:pt modelId="{17DFA27F-BCAD-4D57-9664-5761B5A57D63}" cxnId="{7A7E3BCB-65E6-423C-A3EF-BB676F63AC99}" type="sibTrans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2487CC6-683A-44D8-91E6-C4DCF6F545A0}">
      <dgm:prSet/>
      <dgm:spPr/>
      <dgm:t>
        <a:bodyPr/>
        <a:lstStyle/>
        <a:p>
          <a:r>
            <a:rPr lang="el-GR" b="0" i="0" baseline="0" dirty="0"/>
            <a:t>Εφαρμόζεται </a:t>
          </a:r>
          <a:r>
            <a:rPr lang="el-GR" b="0" i="0" baseline="0" dirty="0" err="1"/>
            <a:t>rounding</a:t>
          </a:r>
          <a:r>
            <a:rPr lang="el-GR" b="0" i="0" baseline="0" dirty="0"/>
            <a:t> (6 δεκαδικά) και απομακρύνονται σχεδόν ταυτόσημα σημεία.</a:t>
          </a:r>
          <a:endParaRPr lang="en-US" dirty="0"/>
        </a:p>
      </dgm:t>
    </dgm:pt>
    <dgm:pt modelId="{07EA771D-D807-41AE-B10E-41E6FEC5E262}" cxnId="{74EBD31C-4716-403C-88C6-4997E76D61D9}" type="parTrans">
      <dgm:prSet/>
      <dgm:spPr/>
      <dgm:t>
        <a:bodyPr/>
        <a:lstStyle/>
        <a:p>
          <a:endParaRPr lang="en-US"/>
        </a:p>
      </dgm:t>
    </dgm:pt>
    <dgm:pt modelId="{4CD68689-2EF4-4C40-8542-0A4D9945D369}" cxnId="{74EBD31C-4716-403C-88C6-4997E76D61D9}" type="sibTrans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40D2D2A8-85D2-435C-B785-8D8D22CA6C76}">
      <dgm:prSet/>
      <dgm:spPr/>
      <dgm:t>
        <a:bodyPr/>
        <a:lstStyle/>
        <a:p>
          <a:r>
            <a:rPr lang="el-GR" b="1" i="0" baseline="0" dirty="0" err="1"/>
            <a:t>Κανονικοποίηση</a:t>
          </a:r>
          <a:r>
            <a:rPr lang="el-GR" b="1" i="0" baseline="0" dirty="0"/>
            <a:t> (Standard </a:t>
          </a:r>
          <a:r>
            <a:rPr lang="el-GR" b="1" i="0" baseline="0" dirty="0" err="1"/>
            <a:t>Scaling</a:t>
          </a:r>
          <a:r>
            <a:rPr lang="el-GR" b="1" i="0" baseline="0" dirty="0"/>
            <a:t>)</a:t>
          </a:r>
          <a:br>
            <a:rPr lang="el-GR" b="0" i="0" baseline="0" dirty="0"/>
          </a:br>
          <a:r>
            <a:rPr lang="el-GR" b="0" i="0" baseline="0" dirty="0"/>
            <a:t>Τα δεδομένα μετασχηματίζονται σε μηδενικό μέσο και </a:t>
          </a:r>
          <a:r>
            <a:rPr lang="el-GR" b="0" i="0" baseline="0" dirty="0" err="1"/>
            <a:t>μοναδιαία</a:t>
          </a:r>
          <a:r>
            <a:rPr lang="el-GR" b="0" i="0" baseline="0" dirty="0"/>
            <a:t> διασπορά</a:t>
          </a:r>
          <a:endParaRPr lang="en-US" dirty="0"/>
        </a:p>
      </dgm:t>
    </dgm:pt>
    <dgm:pt modelId="{EC5DF9CF-61BA-47D9-ADE7-F923524917D4}" cxnId="{AC1C7CA1-F545-433A-B3E9-35AD8FA6A842}" type="parTrans">
      <dgm:prSet/>
      <dgm:spPr/>
      <dgm:t>
        <a:bodyPr/>
        <a:lstStyle/>
        <a:p>
          <a:endParaRPr lang="en-US"/>
        </a:p>
      </dgm:t>
    </dgm:pt>
    <dgm:pt modelId="{770D2F7C-C20B-4BC4-B9D1-EA1EC4930D15}" cxnId="{AC1C7CA1-F545-433A-B3E9-35AD8FA6A842}" type="sibTrans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B69F57CF-DDD6-44B4-A70A-F5703FE38C5A}">
      <dgm:prSet custT="1"/>
      <dgm:spPr/>
      <dgm:t>
        <a:bodyPr/>
        <a:lstStyle/>
        <a:p>
          <a:r>
            <a:rPr lang="el-GR" sz="1400" b="1" i="0" baseline="0" dirty="0"/>
            <a:t>Μετατροπή σε αριθμητικά δεδομένα</a:t>
          </a:r>
          <a:br>
            <a:rPr lang="el-GR" sz="1400" b="0" i="0" baseline="0" dirty="0"/>
          </a:br>
          <a:r>
            <a:rPr lang="el-GR" sz="1400" b="0" i="0" baseline="0" dirty="0"/>
            <a:t>Οι δύο διαστάσεις μετατρέπονται σε </a:t>
          </a:r>
          <a:r>
            <a:rPr lang="el-GR" sz="1400" b="0" i="0" baseline="0" dirty="0" err="1"/>
            <a:t>numeric</a:t>
          </a:r>
          <a:r>
            <a:rPr lang="el-GR" sz="1400" b="0" i="0" baseline="0" dirty="0"/>
            <a:t> τιμές, με μη έγκυρες εγγραφές να ορίζονται ως </a:t>
          </a:r>
          <a:r>
            <a:rPr lang="el-GR" sz="1400" b="0" i="0" baseline="0" dirty="0" err="1"/>
            <a:t>NaN</a:t>
          </a:r>
          <a:r>
            <a:rPr lang="el-GR" sz="1400" b="0" i="0" baseline="0" dirty="0"/>
            <a:t>.</a:t>
          </a:r>
          <a:endParaRPr lang="en-US" sz="1400" dirty="0"/>
        </a:p>
      </dgm:t>
    </dgm:pt>
    <dgm:pt modelId="{9AC0525F-F079-4839-907B-DA93AC55044D}" cxnId="{1ABFC2EB-5FEE-4EF7-91C9-07AD6F55C81D}" type="sibTrans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EBB2759E-2132-4210-88C1-598041C192C3}" cxnId="{1ABFC2EB-5FEE-4EF7-91C9-07AD6F55C81D}" type="parTrans">
      <dgm:prSet/>
      <dgm:spPr/>
      <dgm:t>
        <a:bodyPr/>
        <a:lstStyle/>
        <a:p>
          <a:endParaRPr lang="en-US"/>
        </a:p>
      </dgm:t>
    </dgm:pt>
    <dgm:pt modelId="{B02218C3-D3D7-4408-80B1-62BE18878070}" type="pres">
      <dgm:prSet presAssocID="{7A0DEC5F-1FB2-499A-84A5-1249AA1C89D7}" presName="Name0" presStyleCnt="0">
        <dgm:presLayoutVars>
          <dgm:animLvl val="lvl"/>
          <dgm:resizeHandles val="exact"/>
        </dgm:presLayoutVars>
      </dgm:prSet>
      <dgm:spPr/>
    </dgm:pt>
    <dgm:pt modelId="{921DC91A-39DD-4554-8CEF-7A49506234A3}" type="pres">
      <dgm:prSet presAssocID="{B69F57CF-DDD6-44B4-A70A-F5703FE38C5A}" presName="compositeNode" presStyleCnt="0">
        <dgm:presLayoutVars>
          <dgm:bulletEnabled val="1"/>
        </dgm:presLayoutVars>
      </dgm:prSet>
      <dgm:spPr/>
    </dgm:pt>
    <dgm:pt modelId="{1C5CCB61-48A9-41A9-A142-3D25AC258D99}" type="pres">
      <dgm:prSet presAssocID="{B69F57CF-DDD6-44B4-A70A-F5703FE38C5A}" presName="bgRect" presStyleLbl="alignNode1" presStyleIdx="0" presStyleCnt="5"/>
      <dgm:spPr/>
    </dgm:pt>
    <dgm:pt modelId="{8FEDD29D-58B5-4FD1-A3F3-C731CF8B2E4D}" type="pres">
      <dgm:prSet presAssocID="{9AC0525F-F079-4839-907B-DA93AC55044D}" presName="sibTransNodeRect" presStyleLbl="alignNode1" presStyleIdx="0" presStyleCnt="5" custScaleX="90022" custScaleY="70738">
        <dgm:presLayoutVars>
          <dgm:chMax val="0"/>
          <dgm:bulletEnabled val="1"/>
        </dgm:presLayoutVars>
      </dgm:prSet>
      <dgm:spPr/>
    </dgm:pt>
    <dgm:pt modelId="{24E0C11B-A3E0-44B8-AC47-04C4FD8E5F66}" type="pres">
      <dgm:prSet presAssocID="{B69F57CF-DDD6-44B4-A70A-F5703FE38C5A}" presName="nodeRect" presStyleLbl="alignNode1" presStyleIdx="0" presStyleCnt="5">
        <dgm:presLayoutVars>
          <dgm:bulletEnabled val="1"/>
        </dgm:presLayoutVars>
      </dgm:prSet>
      <dgm:spPr/>
    </dgm:pt>
    <dgm:pt modelId="{A1AF18E1-4609-4881-9758-34B80FCCADCC}" type="pres">
      <dgm:prSet presAssocID="{9AC0525F-F079-4839-907B-DA93AC55044D}" presName="sibTrans" presStyleCnt="0"/>
      <dgm:spPr/>
    </dgm:pt>
    <dgm:pt modelId="{7CB36809-1F23-451C-B558-2C7368622E57}" type="pres">
      <dgm:prSet presAssocID="{A1836D02-DC2E-4C35-8774-331D128FAC52}" presName="compositeNode" presStyleCnt="0">
        <dgm:presLayoutVars>
          <dgm:bulletEnabled val="1"/>
        </dgm:presLayoutVars>
      </dgm:prSet>
      <dgm:spPr/>
    </dgm:pt>
    <dgm:pt modelId="{3014CBF5-C6DD-4175-BBC0-85E5784DF46B}" type="pres">
      <dgm:prSet presAssocID="{A1836D02-DC2E-4C35-8774-331D128FAC52}" presName="bgRect" presStyleLbl="alignNode1" presStyleIdx="1" presStyleCnt="5"/>
      <dgm:spPr/>
    </dgm:pt>
    <dgm:pt modelId="{4F5DA68A-55DD-447E-B454-E8ADB0CE9C08}" type="pres">
      <dgm:prSet presAssocID="{B39E2B78-3F8D-40AA-8B6B-D24731EA2A31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5F31A7E6-F9BA-4887-A245-D27E6E5E5B6A}" type="pres">
      <dgm:prSet presAssocID="{A1836D02-DC2E-4C35-8774-331D128FAC52}" presName="nodeRect" presStyleLbl="alignNode1" presStyleIdx="1" presStyleCnt="5">
        <dgm:presLayoutVars>
          <dgm:bulletEnabled val="1"/>
        </dgm:presLayoutVars>
      </dgm:prSet>
      <dgm:spPr/>
    </dgm:pt>
    <dgm:pt modelId="{0232C80D-AFE9-4807-8D13-DA772E282957}" type="pres">
      <dgm:prSet presAssocID="{B39E2B78-3F8D-40AA-8B6B-D24731EA2A31}" presName="sibTrans" presStyleCnt="0"/>
      <dgm:spPr/>
    </dgm:pt>
    <dgm:pt modelId="{5FE7C8AF-6F1A-42E0-B4D3-30010B7940B7}" type="pres">
      <dgm:prSet presAssocID="{A8C1A3FA-04BF-4EE1-8517-20C3B8630465}" presName="compositeNode" presStyleCnt="0">
        <dgm:presLayoutVars>
          <dgm:bulletEnabled val="1"/>
        </dgm:presLayoutVars>
      </dgm:prSet>
      <dgm:spPr/>
    </dgm:pt>
    <dgm:pt modelId="{30A6D3D9-7BE4-4D68-97C8-ED9AF9552E16}" type="pres">
      <dgm:prSet presAssocID="{A8C1A3FA-04BF-4EE1-8517-20C3B8630465}" presName="bgRect" presStyleLbl="alignNode1" presStyleIdx="2" presStyleCnt="5"/>
      <dgm:spPr/>
    </dgm:pt>
    <dgm:pt modelId="{161F3DEE-49B3-49B7-B8E8-D8EBAF42E858}" type="pres">
      <dgm:prSet presAssocID="{17DFA27F-BCAD-4D57-9664-5761B5A57D63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963C9D8C-6AA4-42D1-9584-5B3AE2F73DEE}" type="pres">
      <dgm:prSet presAssocID="{A8C1A3FA-04BF-4EE1-8517-20C3B8630465}" presName="nodeRect" presStyleLbl="alignNode1" presStyleIdx="2" presStyleCnt="5">
        <dgm:presLayoutVars>
          <dgm:bulletEnabled val="1"/>
        </dgm:presLayoutVars>
      </dgm:prSet>
      <dgm:spPr/>
    </dgm:pt>
    <dgm:pt modelId="{55D114F3-C515-4EC2-92D5-BE42A6393D4B}" type="pres">
      <dgm:prSet presAssocID="{17DFA27F-BCAD-4D57-9664-5761B5A57D63}" presName="sibTrans" presStyleCnt="0"/>
      <dgm:spPr/>
    </dgm:pt>
    <dgm:pt modelId="{A0937538-3DB3-41CA-8EB4-B475986C47D1}" type="pres">
      <dgm:prSet presAssocID="{62487CC6-683A-44D8-91E6-C4DCF6F545A0}" presName="compositeNode" presStyleCnt="0">
        <dgm:presLayoutVars>
          <dgm:bulletEnabled val="1"/>
        </dgm:presLayoutVars>
      </dgm:prSet>
      <dgm:spPr/>
    </dgm:pt>
    <dgm:pt modelId="{AF78D895-6255-4942-AE6C-7083E6B4342D}" type="pres">
      <dgm:prSet presAssocID="{62487CC6-683A-44D8-91E6-C4DCF6F545A0}" presName="bgRect" presStyleLbl="alignNode1" presStyleIdx="3" presStyleCnt="5"/>
      <dgm:spPr/>
    </dgm:pt>
    <dgm:pt modelId="{99ACAAF1-95FC-4E71-9556-68FD2711355F}" type="pres">
      <dgm:prSet presAssocID="{4CD68689-2EF4-4C40-8542-0A4D9945D369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A39EA439-5040-443E-8F9F-2FA87E1FF2E5}" type="pres">
      <dgm:prSet presAssocID="{62487CC6-683A-44D8-91E6-C4DCF6F545A0}" presName="nodeRect" presStyleLbl="alignNode1" presStyleIdx="3" presStyleCnt="5">
        <dgm:presLayoutVars>
          <dgm:bulletEnabled val="1"/>
        </dgm:presLayoutVars>
      </dgm:prSet>
      <dgm:spPr/>
    </dgm:pt>
    <dgm:pt modelId="{F51FCA9E-D1AD-4F0F-BAF0-8C7FE12CC7FC}" type="pres">
      <dgm:prSet presAssocID="{4CD68689-2EF4-4C40-8542-0A4D9945D369}" presName="sibTrans" presStyleCnt="0"/>
      <dgm:spPr/>
    </dgm:pt>
    <dgm:pt modelId="{5A5D06CB-90AE-498F-97DA-1BC8AE82474F}" type="pres">
      <dgm:prSet presAssocID="{40D2D2A8-85D2-435C-B785-8D8D22CA6C76}" presName="compositeNode" presStyleCnt="0">
        <dgm:presLayoutVars>
          <dgm:bulletEnabled val="1"/>
        </dgm:presLayoutVars>
      </dgm:prSet>
      <dgm:spPr/>
    </dgm:pt>
    <dgm:pt modelId="{52DEF3F6-7D66-4A50-B67C-66516134A90B}" type="pres">
      <dgm:prSet presAssocID="{40D2D2A8-85D2-435C-B785-8D8D22CA6C76}" presName="bgRect" presStyleLbl="alignNode1" presStyleIdx="4" presStyleCnt="5"/>
      <dgm:spPr/>
    </dgm:pt>
    <dgm:pt modelId="{A9542192-EAFD-4759-B4BF-C36E9796759E}" type="pres">
      <dgm:prSet presAssocID="{770D2F7C-C20B-4BC4-B9D1-EA1EC4930D15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8A5F0A14-0CFB-49E5-B684-110E90CFC0D7}" type="pres">
      <dgm:prSet presAssocID="{40D2D2A8-85D2-435C-B785-8D8D22CA6C76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4CE97508-7687-462D-A675-45518D0999FF}" type="presOf" srcId="{B69F57CF-DDD6-44B4-A70A-F5703FE38C5A}" destId="{24E0C11B-A3E0-44B8-AC47-04C4FD8E5F66}" srcOrd="1" destOrd="0" presId="urn:microsoft.com/office/officeart/2016/7/layout/LinearBlockProcessNumbered#1"/>
    <dgm:cxn modelId="{74EBD31C-4716-403C-88C6-4997E76D61D9}" srcId="{7A0DEC5F-1FB2-499A-84A5-1249AA1C89D7}" destId="{62487CC6-683A-44D8-91E6-C4DCF6F545A0}" srcOrd="3" destOrd="0" parTransId="{07EA771D-D807-41AE-B10E-41E6FEC5E262}" sibTransId="{4CD68689-2EF4-4C40-8542-0A4D9945D369}"/>
    <dgm:cxn modelId="{3CA05528-2122-4179-B055-09666222EE03}" type="presOf" srcId="{7A0DEC5F-1FB2-499A-84A5-1249AA1C89D7}" destId="{B02218C3-D3D7-4408-80B1-62BE18878070}" srcOrd="0" destOrd="0" presId="urn:microsoft.com/office/officeart/2016/7/layout/LinearBlockProcessNumbered#1"/>
    <dgm:cxn modelId="{46F79132-049F-41F0-970F-F67C4317322E}" type="presOf" srcId="{A8C1A3FA-04BF-4EE1-8517-20C3B8630465}" destId="{963C9D8C-6AA4-42D1-9584-5B3AE2F73DEE}" srcOrd="1" destOrd="0" presId="urn:microsoft.com/office/officeart/2016/7/layout/LinearBlockProcessNumbered#1"/>
    <dgm:cxn modelId="{C3B78036-6B9F-40E0-A542-B9232F66B631}" type="presOf" srcId="{B39E2B78-3F8D-40AA-8B6B-D24731EA2A31}" destId="{4F5DA68A-55DD-447E-B454-E8ADB0CE9C08}" srcOrd="0" destOrd="0" presId="urn:microsoft.com/office/officeart/2016/7/layout/LinearBlockProcessNumbered#1"/>
    <dgm:cxn modelId="{1456DC40-67E5-4942-8DA1-705774D43A7E}" type="presOf" srcId="{4CD68689-2EF4-4C40-8542-0A4D9945D369}" destId="{99ACAAF1-95FC-4E71-9556-68FD2711355F}" srcOrd="0" destOrd="0" presId="urn:microsoft.com/office/officeart/2016/7/layout/LinearBlockProcessNumbered#1"/>
    <dgm:cxn modelId="{B3150762-98ED-459D-AC86-457B0ECAB19D}" srcId="{7A0DEC5F-1FB2-499A-84A5-1249AA1C89D7}" destId="{A1836D02-DC2E-4C35-8774-331D128FAC52}" srcOrd="1" destOrd="0" parTransId="{0797A978-0B01-4219-A7B8-32E4067D7F4E}" sibTransId="{B39E2B78-3F8D-40AA-8B6B-D24731EA2A31}"/>
    <dgm:cxn modelId="{DBC66052-5D72-4C93-BDB8-6D48259CE1E0}" type="presOf" srcId="{62487CC6-683A-44D8-91E6-C4DCF6F545A0}" destId="{AF78D895-6255-4942-AE6C-7083E6B4342D}" srcOrd="0" destOrd="0" presId="urn:microsoft.com/office/officeart/2016/7/layout/LinearBlockProcessNumbered#1"/>
    <dgm:cxn modelId="{C9F0BA77-BA0E-46D3-B4AE-587D6B6B3E19}" type="presOf" srcId="{40D2D2A8-85D2-435C-B785-8D8D22CA6C76}" destId="{52DEF3F6-7D66-4A50-B67C-66516134A90B}" srcOrd="0" destOrd="0" presId="urn:microsoft.com/office/officeart/2016/7/layout/LinearBlockProcessNumbered#1"/>
    <dgm:cxn modelId="{0AB62482-A659-4779-8336-E666664D8475}" type="presOf" srcId="{A1836D02-DC2E-4C35-8774-331D128FAC52}" destId="{3014CBF5-C6DD-4175-BBC0-85E5784DF46B}" srcOrd="0" destOrd="0" presId="urn:microsoft.com/office/officeart/2016/7/layout/LinearBlockProcessNumbered#1"/>
    <dgm:cxn modelId="{2D454C84-E194-4131-A265-1E6A772BE3CC}" type="presOf" srcId="{62487CC6-683A-44D8-91E6-C4DCF6F545A0}" destId="{A39EA439-5040-443E-8F9F-2FA87E1FF2E5}" srcOrd="1" destOrd="0" presId="urn:microsoft.com/office/officeart/2016/7/layout/LinearBlockProcessNumbered#1"/>
    <dgm:cxn modelId="{A63EE38C-19C6-4CE4-8707-75F079CADC62}" type="presOf" srcId="{A8C1A3FA-04BF-4EE1-8517-20C3B8630465}" destId="{30A6D3D9-7BE4-4D68-97C8-ED9AF9552E16}" srcOrd="0" destOrd="0" presId="urn:microsoft.com/office/officeart/2016/7/layout/LinearBlockProcessNumbered#1"/>
    <dgm:cxn modelId="{AC1C7CA1-F545-433A-B3E9-35AD8FA6A842}" srcId="{7A0DEC5F-1FB2-499A-84A5-1249AA1C89D7}" destId="{40D2D2A8-85D2-435C-B785-8D8D22CA6C76}" srcOrd="4" destOrd="0" parTransId="{EC5DF9CF-61BA-47D9-ADE7-F923524917D4}" sibTransId="{770D2F7C-C20B-4BC4-B9D1-EA1EC4930D15}"/>
    <dgm:cxn modelId="{840F79A7-573E-46EC-80B2-1EEE2F25E032}" type="presOf" srcId="{40D2D2A8-85D2-435C-B785-8D8D22CA6C76}" destId="{8A5F0A14-0CFB-49E5-B684-110E90CFC0D7}" srcOrd="1" destOrd="0" presId="urn:microsoft.com/office/officeart/2016/7/layout/LinearBlockProcessNumbered#1"/>
    <dgm:cxn modelId="{A46A89B1-3C4F-4F27-B3D0-A2641D2D7E40}" type="presOf" srcId="{9AC0525F-F079-4839-907B-DA93AC55044D}" destId="{8FEDD29D-58B5-4FD1-A3F3-C731CF8B2E4D}" srcOrd="0" destOrd="0" presId="urn:microsoft.com/office/officeart/2016/7/layout/LinearBlockProcessNumbered#1"/>
    <dgm:cxn modelId="{B3E6DBB4-C11F-4CFE-86D5-538F9B7E4773}" type="presOf" srcId="{A1836D02-DC2E-4C35-8774-331D128FAC52}" destId="{5F31A7E6-F9BA-4887-A245-D27E6E5E5B6A}" srcOrd="1" destOrd="0" presId="urn:microsoft.com/office/officeart/2016/7/layout/LinearBlockProcessNumbered#1"/>
    <dgm:cxn modelId="{4CD7A5BE-6827-46FE-B794-E2DE56D49AD8}" type="presOf" srcId="{770D2F7C-C20B-4BC4-B9D1-EA1EC4930D15}" destId="{A9542192-EAFD-4759-B4BF-C36E9796759E}" srcOrd="0" destOrd="0" presId="urn:microsoft.com/office/officeart/2016/7/layout/LinearBlockProcessNumbered#1"/>
    <dgm:cxn modelId="{7A7E3BCB-65E6-423C-A3EF-BB676F63AC99}" srcId="{7A0DEC5F-1FB2-499A-84A5-1249AA1C89D7}" destId="{A8C1A3FA-04BF-4EE1-8517-20C3B8630465}" srcOrd="2" destOrd="0" parTransId="{1A30DD8F-4E88-4034-981C-A6836107356A}" sibTransId="{17DFA27F-BCAD-4D57-9664-5761B5A57D63}"/>
    <dgm:cxn modelId="{16E8C7D7-B097-4775-8B64-7DDE50E0F23E}" type="presOf" srcId="{17DFA27F-BCAD-4D57-9664-5761B5A57D63}" destId="{161F3DEE-49B3-49B7-B8E8-D8EBAF42E858}" srcOrd="0" destOrd="0" presId="urn:microsoft.com/office/officeart/2016/7/layout/LinearBlockProcessNumbered#1"/>
    <dgm:cxn modelId="{1ABFC2EB-5FEE-4EF7-91C9-07AD6F55C81D}" srcId="{7A0DEC5F-1FB2-499A-84A5-1249AA1C89D7}" destId="{B69F57CF-DDD6-44B4-A70A-F5703FE38C5A}" srcOrd="0" destOrd="0" parTransId="{EBB2759E-2132-4210-88C1-598041C192C3}" sibTransId="{9AC0525F-F079-4839-907B-DA93AC55044D}"/>
    <dgm:cxn modelId="{445357F6-87A4-4AF9-AAB1-4405B9710AA6}" type="presOf" srcId="{B69F57CF-DDD6-44B4-A70A-F5703FE38C5A}" destId="{1C5CCB61-48A9-41A9-A142-3D25AC258D99}" srcOrd="0" destOrd="0" presId="urn:microsoft.com/office/officeart/2016/7/layout/LinearBlockProcessNumbered#1"/>
    <dgm:cxn modelId="{F82F9C21-1F31-495F-BAEA-57F38DAA8211}" type="presParOf" srcId="{B02218C3-D3D7-4408-80B1-62BE18878070}" destId="{921DC91A-39DD-4554-8CEF-7A49506234A3}" srcOrd="0" destOrd="0" presId="urn:microsoft.com/office/officeart/2016/7/layout/LinearBlockProcessNumbered#1"/>
    <dgm:cxn modelId="{23E3DACA-9992-4C58-B07B-9D886D2D3A03}" type="presParOf" srcId="{921DC91A-39DD-4554-8CEF-7A49506234A3}" destId="{1C5CCB61-48A9-41A9-A142-3D25AC258D99}" srcOrd="0" destOrd="0" presId="urn:microsoft.com/office/officeart/2016/7/layout/LinearBlockProcessNumbered#1"/>
    <dgm:cxn modelId="{47293DDC-EB1E-4074-B2CC-1CE8F18A0DF1}" type="presParOf" srcId="{921DC91A-39DD-4554-8CEF-7A49506234A3}" destId="{8FEDD29D-58B5-4FD1-A3F3-C731CF8B2E4D}" srcOrd="1" destOrd="0" presId="urn:microsoft.com/office/officeart/2016/7/layout/LinearBlockProcessNumbered#1"/>
    <dgm:cxn modelId="{27CBA7EC-3B98-410A-9DA0-9DC11FEE70B2}" type="presParOf" srcId="{921DC91A-39DD-4554-8CEF-7A49506234A3}" destId="{24E0C11B-A3E0-44B8-AC47-04C4FD8E5F66}" srcOrd="2" destOrd="0" presId="urn:microsoft.com/office/officeart/2016/7/layout/LinearBlockProcessNumbered#1"/>
    <dgm:cxn modelId="{D0A91DBD-04DF-4242-BEC7-C84462ECD83B}" type="presParOf" srcId="{B02218C3-D3D7-4408-80B1-62BE18878070}" destId="{A1AF18E1-4609-4881-9758-34B80FCCADCC}" srcOrd="1" destOrd="0" presId="urn:microsoft.com/office/officeart/2016/7/layout/LinearBlockProcessNumbered#1"/>
    <dgm:cxn modelId="{BBC95CFA-49BA-44FC-ACE8-183FE5EA20B6}" type="presParOf" srcId="{B02218C3-D3D7-4408-80B1-62BE18878070}" destId="{7CB36809-1F23-451C-B558-2C7368622E57}" srcOrd="2" destOrd="0" presId="urn:microsoft.com/office/officeart/2016/7/layout/LinearBlockProcessNumbered#1"/>
    <dgm:cxn modelId="{CF469B51-9140-4FFE-B48C-7C34E0259F96}" type="presParOf" srcId="{7CB36809-1F23-451C-B558-2C7368622E57}" destId="{3014CBF5-C6DD-4175-BBC0-85E5784DF46B}" srcOrd="0" destOrd="0" presId="urn:microsoft.com/office/officeart/2016/7/layout/LinearBlockProcessNumbered#1"/>
    <dgm:cxn modelId="{54B3E2B1-C406-4871-9DDD-FFB49456C919}" type="presParOf" srcId="{7CB36809-1F23-451C-B558-2C7368622E57}" destId="{4F5DA68A-55DD-447E-B454-E8ADB0CE9C08}" srcOrd="1" destOrd="0" presId="urn:microsoft.com/office/officeart/2016/7/layout/LinearBlockProcessNumbered#1"/>
    <dgm:cxn modelId="{1F7AAFB8-E5DE-4FE3-A7A4-74D1CE8D9352}" type="presParOf" srcId="{7CB36809-1F23-451C-B558-2C7368622E57}" destId="{5F31A7E6-F9BA-4887-A245-D27E6E5E5B6A}" srcOrd="2" destOrd="0" presId="urn:microsoft.com/office/officeart/2016/7/layout/LinearBlockProcessNumbered#1"/>
    <dgm:cxn modelId="{FDC7ED12-CCEA-4EB4-A19D-6C165B5E3A09}" type="presParOf" srcId="{B02218C3-D3D7-4408-80B1-62BE18878070}" destId="{0232C80D-AFE9-4807-8D13-DA772E282957}" srcOrd="3" destOrd="0" presId="urn:microsoft.com/office/officeart/2016/7/layout/LinearBlockProcessNumbered#1"/>
    <dgm:cxn modelId="{00E4CC5E-2BE3-43CF-B5DE-6917F8F5E259}" type="presParOf" srcId="{B02218C3-D3D7-4408-80B1-62BE18878070}" destId="{5FE7C8AF-6F1A-42E0-B4D3-30010B7940B7}" srcOrd="4" destOrd="0" presId="urn:microsoft.com/office/officeart/2016/7/layout/LinearBlockProcessNumbered#1"/>
    <dgm:cxn modelId="{C77C0D77-9840-4CE1-B49E-352B43DD2AF2}" type="presParOf" srcId="{5FE7C8AF-6F1A-42E0-B4D3-30010B7940B7}" destId="{30A6D3D9-7BE4-4D68-97C8-ED9AF9552E16}" srcOrd="0" destOrd="0" presId="urn:microsoft.com/office/officeart/2016/7/layout/LinearBlockProcessNumbered#1"/>
    <dgm:cxn modelId="{6C0343E3-D28D-4E90-8F3A-9F17674E69FB}" type="presParOf" srcId="{5FE7C8AF-6F1A-42E0-B4D3-30010B7940B7}" destId="{161F3DEE-49B3-49B7-B8E8-D8EBAF42E858}" srcOrd="1" destOrd="0" presId="urn:microsoft.com/office/officeart/2016/7/layout/LinearBlockProcessNumbered#1"/>
    <dgm:cxn modelId="{A5C07DF5-0A7F-4FB2-A096-56BB31660BDA}" type="presParOf" srcId="{5FE7C8AF-6F1A-42E0-B4D3-30010B7940B7}" destId="{963C9D8C-6AA4-42D1-9584-5B3AE2F73DEE}" srcOrd="2" destOrd="0" presId="urn:microsoft.com/office/officeart/2016/7/layout/LinearBlockProcessNumbered#1"/>
    <dgm:cxn modelId="{38A6895A-7613-47A4-B2A1-824CE5FB49F9}" type="presParOf" srcId="{B02218C3-D3D7-4408-80B1-62BE18878070}" destId="{55D114F3-C515-4EC2-92D5-BE42A6393D4B}" srcOrd="5" destOrd="0" presId="urn:microsoft.com/office/officeart/2016/7/layout/LinearBlockProcessNumbered#1"/>
    <dgm:cxn modelId="{FF32B0BB-E766-4CD6-80A5-8A1A3F4F7390}" type="presParOf" srcId="{B02218C3-D3D7-4408-80B1-62BE18878070}" destId="{A0937538-3DB3-41CA-8EB4-B475986C47D1}" srcOrd="6" destOrd="0" presId="urn:microsoft.com/office/officeart/2016/7/layout/LinearBlockProcessNumbered#1"/>
    <dgm:cxn modelId="{086FC0A2-ED89-4331-B617-8912AD9B6C69}" type="presParOf" srcId="{A0937538-3DB3-41CA-8EB4-B475986C47D1}" destId="{AF78D895-6255-4942-AE6C-7083E6B4342D}" srcOrd="0" destOrd="0" presId="urn:microsoft.com/office/officeart/2016/7/layout/LinearBlockProcessNumbered#1"/>
    <dgm:cxn modelId="{9C0250C7-D420-47CD-89B5-DA7935BA02AE}" type="presParOf" srcId="{A0937538-3DB3-41CA-8EB4-B475986C47D1}" destId="{99ACAAF1-95FC-4E71-9556-68FD2711355F}" srcOrd="1" destOrd="0" presId="urn:microsoft.com/office/officeart/2016/7/layout/LinearBlockProcessNumbered#1"/>
    <dgm:cxn modelId="{D707419C-7CE8-4D06-935E-4D7EE1BB73C6}" type="presParOf" srcId="{A0937538-3DB3-41CA-8EB4-B475986C47D1}" destId="{A39EA439-5040-443E-8F9F-2FA87E1FF2E5}" srcOrd="2" destOrd="0" presId="urn:microsoft.com/office/officeart/2016/7/layout/LinearBlockProcessNumbered#1"/>
    <dgm:cxn modelId="{5C721FDB-68BD-4ECF-AF68-E41B170D5549}" type="presParOf" srcId="{B02218C3-D3D7-4408-80B1-62BE18878070}" destId="{F51FCA9E-D1AD-4F0F-BAF0-8C7FE12CC7FC}" srcOrd="7" destOrd="0" presId="urn:microsoft.com/office/officeart/2016/7/layout/LinearBlockProcessNumbered#1"/>
    <dgm:cxn modelId="{9A35D883-A9D7-43A2-98E3-096A65C9C770}" type="presParOf" srcId="{B02218C3-D3D7-4408-80B1-62BE18878070}" destId="{5A5D06CB-90AE-498F-97DA-1BC8AE82474F}" srcOrd="8" destOrd="0" presId="urn:microsoft.com/office/officeart/2016/7/layout/LinearBlockProcessNumbered#1"/>
    <dgm:cxn modelId="{EA821FD1-70E9-41E4-9155-3D6F41C6183B}" type="presParOf" srcId="{5A5D06CB-90AE-498F-97DA-1BC8AE82474F}" destId="{52DEF3F6-7D66-4A50-B67C-66516134A90B}" srcOrd="0" destOrd="0" presId="urn:microsoft.com/office/officeart/2016/7/layout/LinearBlockProcessNumbered#1"/>
    <dgm:cxn modelId="{E56783B5-D02F-442E-AD5D-BF4E3A0BA75B}" type="presParOf" srcId="{5A5D06CB-90AE-498F-97DA-1BC8AE82474F}" destId="{A9542192-EAFD-4759-B4BF-C36E9796759E}" srcOrd="1" destOrd="0" presId="urn:microsoft.com/office/officeart/2016/7/layout/LinearBlockProcessNumbered#1"/>
    <dgm:cxn modelId="{C810CBF7-1C31-4A8E-8F14-4D270D9BE816}" type="presParOf" srcId="{5A5D06CB-90AE-498F-97DA-1BC8AE82474F}" destId="{8A5F0A14-0CFB-49E5-B684-110E90CFC0D7}" srcOrd="2" destOrd="0" presId="urn:microsoft.com/office/officeart/2016/7/layout/LinearBlockProcessNumbered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838039" cy="4385186"/>
        <a:chOff x="0" y="0"/>
        <a:chExt cx="11838039" cy="4385186"/>
      </a:xfrm>
    </dsp:grpSpPr>
    <dsp:sp modelId="{1C5CCB61-48A9-41A9-A142-3D25AC258D99}">
      <dsp:nvSpPr>
        <dsp:cNvPr id="3" name="Rectangles 2"/>
        <dsp:cNvSpPr/>
      </dsp:nvSpPr>
      <dsp:spPr bwMode="white">
        <a:xfrm>
          <a:off x="0" y="0"/>
          <a:ext cx="2225195" cy="4385186"/>
        </a:xfrm>
        <a:prstGeom prst="rect">
          <a:avLst/>
        </a:prstGeom>
      </dsp:spPr>
      <dsp:style>
        <a:lnRef idx="1">
          <a:schemeClr val="accent2"/>
        </a:lnRef>
        <a:fillRef idx="2">
          <a:schemeClr val="accent2"/>
        </a:fillRef>
        <a:effectRef idx="1">
          <a:scrgbClr r="0" g="0" b="0"/>
        </a:effectRef>
        <a:fontRef idx="minor">
          <a:schemeClr val="dk1"/>
        </a:fontRef>
      </dsp:style>
      <dsp:txXfrm>
        <a:off x="0" y="0"/>
        <a:ext cx="2225195" cy="4385186"/>
      </dsp:txXfrm>
    </dsp:sp>
    <dsp:sp modelId="{3014CBF5-C6DD-4175-BBC0-85E5784DF46B}">
      <dsp:nvSpPr>
        <dsp:cNvPr id="6" name="Rectangles 5"/>
        <dsp:cNvSpPr/>
      </dsp:nvSpPr>
      <dsp:spPr bwMode="white">
        <a:xfrm>
          <a:off x="2403211" y="0"/>
          <a:ext cx="2225195" cy="4385186"/>
        </a:xfrm>
        <a:prstGeom prst="rect">
          <a:avLst/>
        </a:prstGeom>
      </dsp:spPr>
      <dsp:style>
        <a:lnRef idx="1">
          <a:schemeClr val="accent3"/>
        </a:lnRef>
        <a:fillRef idx="2">
          <a:schemeClr val="accent3"/>
        </a:fillRef>
        <a:effectRef idx="1">
          <a:scrgbClr r="0" g="0" b="0"/>
        </a:effectRef>
        <a:fontRef idx="minor">
          <a:schemeClr val="dk1"/>
        </a:fontRef>
      </dsp:style>
      <dsp:txXfrm>
        <a:off x="2403211" y="0"/>
        <a:ext cx="2225195" cy="4385186"/>
      </dsp:txXfrm>
    </dsp:sp>
    <dsp:sp modelId="{30A6D3D9-7BE4-4D68-97C8-ED9AF9552E16}">
      <dsp:nvSpPr>
        <dsp:cNvPr id="9" name="Rectangles 8"/>
        <dsp:cNvSpPr/>
      </dsp:nvSpPr>
      <dsp:spPr bwMode="white">
        <a:xfrm>
          <a:off x="4806422" y="0"/>
          <a:ext cx="2225195" cy="4385186"/>
        </a:xfrm>
        <a:prstGeom prst="rect">
          <a:avLst/>
        </a:prstGeom>
      </dsp:spPr>
      <dsp:style>
        <a:lnRef idx="1">
          <a:schemeClr val="accent4"/>
        </a:lnRef>
        <a:fillRef idx="2">
          <a:schemeClr val="accent4"/>
        </a:fillRef>
        <a:effectRef idx="1">
          <a:scrgbClr r="0" g="0" b="0"/>
        </a:effectRef>
        <a:fontRef idx="minor">
          <a:schemeClr val="dk1"/>
        </a:fontRef>
      </dsp:style>
      <dsp:txXfrm>
        <a:off x="4806422" y="0"/>
        <a:ext cx="2225195" cy="4385186"/>
      </dsp:txXfrm>
    </dsp:sp>
    <dsp:sp modelId="{AF78D895-6255-4942-AE6C-7083E6B4342D}">
      <dsp:nvSpPr>
        <dsp:cNvPr id="12" name="Rectangles 11"/>
        <dsp:cNvSpPr/>
      </dsp:nvSpPr>
      <dsp:spPr bwMode="white">
        <a:xfrm>
          <a:off x="7209633" y="0"/>
          <a:ext cx="2225195" cy="4385186"/>
        </a:xfrm>
        <a:prstGeom prst="rect">
          <a:avLst/>
        </a:prstGeom>
      </dsp:spPr>
      <dsp:style>
        <a:lnRef idx="1">
          <a:schemeClr val="accent5"/>
        </a:lnRef>
        <a:fillRef idx="2">
          <a:schemeClr val="accent5"/>
        </a:fillRef>
        <a:effectRef idx="1">
          <a:scrgbClr r="0" g="0" b="0"/>
        </a:effectRef>
        <a:fontRef idx="minor">
          <a:schemeClr val="dk1"/>
        </a:fontRef>
      </dsp:style>
      <dsp:txXfrm>
        <a:off x="7209633" y="0"/>
        <a:ext cx="2225195" cy="4385186"/>
      </dsp:txXfrm>
    </dsp:sp>
    <dsp:sp modelId="{52DEF3F6-7D66-4A50-B67C-66516134A90B}">
      <dsp:nvSpPr>
        <dsp:cNvPr id="15" name="Rectangles 14"/>
        <dsp:cNvSpPr/>
      </dsp:nvSpPr>
      <dsp:spPr bwMode="white">
        <a:xfrm>
          <a:off x="9612844" y="0"/>
          <a:ext cx="2225195" cy="4385186"/>
        </a:xfrm>
        <a:prstGeom prst="rect">
          <a:avLst/>
        </a:prstGeom>
      </dsp:spPr>
      <dsp:style>
        <a:lnRef idx="1">
          <a:schemeClr val="accent6"/>
        </a:lnRef>
        <a:fillRef idx="2">
          <a:schemeClr val="accent6"/>
        </a:fillRef>
        <a:effectRef idx="1">
          <a:scrgbClr r="0" g="0" b="0"/>
        </a:effectRef>
        <a:fontRef idx="minor">
          <a:schemeClr val="dk1"/>
        </a:fontRef>
      </dsp:style>
      <dsp:txXfrm>
        <a:off x="9612844" y="0"/>
        <a:ext cx="2225195" cy="4385186"/>
      </dsp:txXfrm>
    </dsp:sp>
    <dsp:sp modelId="{8FEDD29D-58B5-4FD1-A3F3-C731CF8B2E4D}">
      <dsp:nvSpPr>
        <dsp:cNvPr id="4" name="Rectangles 3"/>
        <dsp:cNvSpPr/>
      </dsp:nvSpPr>
      <dsp:spPr bwMode="white">
        <a:xfrm>
          <a:off x="0" y="0"/>
          <a:ext cx="2225195" cy="1754074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165100" rIns="219799" bIns="1651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01</a:t>
          </a:r>
          <a:endParaRPr lang="en-US" dirty="0"/>
        </a:p>
      </dsp:txBody>
      <dsp:txXfrm>
        <a:off x="0" y="0"/>
        <a:ext cx="2225195" cy="1754074"/>
      </dsp:txXfrm>
    </dsp:sp>
    <dsp:sp modelId="{24E0C11B-A3E0-44B8-AC47-04C4FD8E5F66}">
      <dsp:nvSpPr>
        <dsp:cNvPr id="5" name="Rectangles 4"/>
        <dsp:cNvSpPr/>
      </dsp:nvSpPr>
      <dsp:spPr bwMode="white">
        <a:xfrm>
          <a:off x="0" y="1754074"/>
          <a:ext cx="2225195" cy="2631112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0" rIns="219799" bIns="177800" anchor="t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l-GR" sz="1400" b="1" i="0" baseline="0" dirty="0"/>
            <a:t>Μετατροπή σε αριθμητικά δεδομένα</a:t>
          </a:r>
          <a:br>
            <a:rPr lang="el-GR" sz="1400" b="0" i="0" baseline="0" dirty="0"/>
          </a:br>
          <a:r>
            <a:rPr lang="el-GR" sz="1400" b="0" i="0" baseline="0" dirty="0"/>
            <a:t>Οι δύο διαστάσεις μετατρέπονται σε </a:t>
          </a:r>
          <a:r>
            <a:rPr lang="el-GR" sz="1400" b="0" i="0" baseline="0" dirty="0" err="1"/>
            <a:t>numeric</a:t>
          </a:r>
          <a:r>
            <a:rPr lang="el-GR" sz="1400" b="0" i="0" baseline="0" dirty="0"/>
            <a:t> τιμές, με μη έγκυρες εγγραφές να ορίζονται ως </a:t>
          </a:r>
          <a:r>
            <a:rPr lang="el-GR" sz="1400" b="0" i="0" baseline="0" dirty="0" err="1"/>
            <a:t>NaN</a:t>
          </a:r>
          <a:r>
            <a:rPr lang="el-GR" sz="1400" b="0" i="0" baseline="0" dirty="0"/>
            <a:t>.</a:t>
          </a:r>
          <a:endParaRPr lang="en-US" sz="1400" dirty="0"/>
        </a:p>
      </dsp:txBody>
      <dsp:txXfrm>
        <a:off x="0" y="1754074"/>
        <a:ext cx="2225195" cy="2631112"/>
      </dsp:txXfrm>
    </dsp:sp>
    <dsp:sp modelId="{4F5DA68A-55DD-447E-B454-E8ADB0CE9C08}">
      <dsp:nvSpPr>
        <dsp:cNvPr id="7" name="Rectangles 6"/>
        <dsp:cNvSpPr/>
      </dsp:nvSpPr>
      <dsp:spPr bwMode="white">
        <a:xfrm>
          <a:off x="2403211" y="0"/>
          <a:ext cx="2225195" cy="1754074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165100" rIns="219799" bIns="1651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02</a:t>
          </a:r>
        </a:p>
      </dsp:txBody>
      <dsp:txXfrm>
        <a:off x="2403211" y="0"/>
        <a:ext cx="2225195" cy="1754074"/>
      </dsp:txXfrm>
    </dsp:sp>
    <dsp:sp modelId="{5F31A7E6-F9BA-4887-A245-D27E6E5E5B6A}">
      <dsp:nvSpPr>
        <dsp:cNvPr id="8" name="Rectangles 7"/>
        <dsp:cNvSpPr/>
      </dsp:nvSpPr>
      <dsp:spPr bwMode="white">
        <a:xfrm>
          <a:off x="2403211" y="1754074"/>
          <a:ext cx="2225195" cy="2631112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0" rIns="219799" bIns="177800" anchor="t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l-GR" sz="1400" b="1" i="0" baseline="0" dirty="0"/>
            <a:t>Διαχείριση ακραίων τιμών </a:t>
          </a:r>
          <a:br>
            <a:rPr lang="el-GR" sz="1400" b="0" i="0" baseline="0" dirty="0"/>
          </a:br>
          <a:r>
            <a:rPr lang="el-GR" sz="1400" b="0" i="0" baseline="0" dirty="0"/>
            <a:t>Ανιχνεύονται και αντικαθίστανται </a:t>
          </a:r>
          <a:r>
            <a:rPr lang="el-GR" sz="1400" b="0" i="0" baseline="0" dirty="0" err="1"/>
            <a:t>infinite</a:t>
          </a:r>
          <a:r>
            <a:rPr lang="el-GR" sz="1400" b="0" i="0" baseline="0" dirty="0"/>
            <a:t> τιμές με </a:t>
          </a:r>
          <a:r>
            <a:rPr lang="el-GR" sz="1400" b="0" i="0" baseline="0" dirty="0" err="1"/>
            <a:t>NaN</a:t>
          </a:r>
          <a:r>
            <a:rPr lang="el-GR" sz="1400" b="0" i="0" baseline="0" dirty="0"/>
            <a:t> </a:t>
          </a:r>
          <a:endParaRPr lang="en-US" sz="1400" dirty="0"/>
        </a:p>
      </dsp:txBody>
      <dsp:txXfrm>
        <a:off x="2403211" y="1754074"/>
        <a:ext cx="2225195" cy="2631112"/>
      </dsp:txXfrm>
    </dsp:sp>
    <dsp:sp modelId="{161F3DEE-49B3-49B7-B8E8-D8EBAF42E858}">
      <dsp:nvSpPr>
        <dsp:cNvPr id="10" name="Rectangles 9"/>
        <dsp:cNvSpPr/>
      </dsp:nvSpPr>
      <dsp:spPr bwMode="white">
        <a:xfrm>
          <a:off x="4806422" y="0"/>
          <a:ext cx="2225195" cy="1754074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165100" rIns="219799" bIns="1651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03</a:t>
          </a:r>
        </a:p>
      </dsp:txBody>
      <dsp:txXfrm>
        <a:off x="4806422" y="0"/>
        <a:ext cx="2225195" cy="1754074"/>
      </dsp:txXfrm>
    </dsp:sp>
    <dsp:sp modelId="{963C9D8C-6AA4-42D1-9584-5B3AE2F73DEE}">
      <dsp:nvSpPr>
        <dsp:cNvPr id="11" name="Rectangles 10"/>
        <dsp:cNvSpPr/>
      </dsp:nvSpPr>
      <dsp:spPr bwMode="white">
        <a:xfrm>
          <a:off x="4806422" y="1754074"/>
          <a:ext cx="2225195" cy="2631112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0" rIns="219799" bIns="177800" anchor="t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l-GR" sz="1400" b="1" i="0" baseline="0"/>
            <a:t>Αφαίρεση ελλιπών δεδομένων</a:t>
          </a:r>
          <a:br>
            <a:rPr lang="el-GR" sz="1400" b="0" i="0" baseline="0"/>
          </a:br>
          <a:r>
            <a:rPr lang="el-GR" sz="1400" b="0" i="0" baseline="0"/>
            <a:t>Γραμμές με NaN απορρίπτονται ώστε να διασφαλιστεί καθαρό input</a:t>
          </a:r>
          <a:endParaRPr lang="en-US" sz="1400" dirty="0"/>
        </a:p>
      </dsp:txBody>
      <dsp:txXfrm>
        <a:off x="4806422" y="1754074"/>
        <a:ext cx="2225195" cy="2631112"/>
      </dsp:txXfrm>
    </dsp:sp>
    <dsp:sp modelId="{99ACAAF1-95FC-4E71-9556-68FD2711355F}">
      <dsp:nvSpPr>
        <dsp:cNvPr id="13" name="Rectangles 12"/>
        <dsp:cNvSpPr/>
      </dsp:nvSpPr>
      <dsp:spPr bwMode="white">
        <a:xfrm>
          <a:off x="7209633" y="0"/>
          <a:ext cx="2225195" cy="1754074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165100" rIns="219799" bIns="1651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04</a:t>
          </a:r>
        </a:p>
      </dsp:txBody>
      <dsp:txXfrm>
        <a:off x="7209633" y="0"/>
        <a:ext cx="2225195" cy="1754074"/>
      </dsp:txXfrm>
    </dsp:sp>
    <dsp:sp modelId="{A39EA439-5040-443E-8F9F-2FA87E1FF2E5}">
      <dsp:nvSpPr>
        <dsp:cNvPr id="14" name="Rectangles 13"/>
        <dsp:cNvSpPr/>
      </dsp:nvSpPr>
      <dsp:spPr bwMode="white">
        <a:xfrm>
          <a:off x="7209633" y="1754074"/>
          <a:ext cx="2225195" cy="2631112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0" rIns="219799" bIns="330200" anchor="t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l-GR" b="0" i="0" baseline="0" dirty="0"/>
            <a:t>Εφαρμόζεται </a:t>
          </a:r>
          <a:r>
            <a:rPr lang="el-GR" b="0" i="0" baseline="0" dirty="0" err="1"/>
            <a:t>rounding</a:t>
          </a:r>
          <a:r>
            <a:rPr lang="el-GR" b="0" i="0" baseline="0" dirty="0"/>
            <a:t> (6 δεκαδικά) και απομακρύνονται σχεδόν ταυτόσημα σημεία.</a:t>
          </a:r>
          <a:endParaRPr lang="en-US" dirty="0"/>
        </a:p>
      </dsp:txBody>
      <dsp:txXfrm>
        <a:off x="7209633" y="1754074"/>
        <a:ext cx="2225195" cy="2631112"/>
      </dsp:txXfrm>
    </dsp:sp>
    <dsp:sp modelId="{A9542192-EAFD-4759-B4BF-C36E9796759E}">
      <dsp:nvSpPr>
        <dsp:cNvPr id="16" name="Rectangles 15"/>
        <dsp:cNvSpPr/>
      </dsp:nvSpPr>
      <dsp:spPr bwMode="white">
        <a:xfrm>
          <a:off x="9612844" y="0"/>
          <a:ext cx="2225195" cy="1754074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165100" rIns="219799" bIns="1651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05</a:t>
          </a:r>
        </a:p>
      </dsp:txBody>
      <dsp:txXfrm>
        <a:off x="9612844" y="0"/>
        <a:ext cx="2225195" cy="1754074"/>
      </dsp:txXfrm>
    </dsp:sp>
    <dsp:sp modelId="{8A5F0A14-0CFB-49E5-B684-110E90CFC0D7}">
      <dsp:nvSpPr>
        <dsp:cNvPr id="17" name="Rectangles 16"/>
        <dsp:cNvSpPr/>
      </dsp:nvSpPr>
      <dsp:spPr bwMode="white">
        <a:xfrm>
          <a:off x="9612844" y="1754074"/>
          <a:ext cx="2225195" cy="2631112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lIns="219799" tIns="0" rIns="219799" bIns="330200" anchor="t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l-GR" b="1" i="0" baseline="0" dirty="0" err="1"/>
            <a:t>Κανονικοποίηση</a:t>
          </a:r>
          <a:r>
            <a:rPr lang="el-GR" b="1" i="0" baseline="0" dirty="0"/>
            <a:t> (Standard </a:t>
          </a:r>
          <a:r>
            <a:rPr lang="el-GR" b="1" i="0" baseline="0" dirty="0" err="1"/>
            <a:t>Scaling</a:t>
          </a:r>
          <a:r>
            <a:rPr lang="el-GR" b="1" i="0" baseline="0" dirty="0"/>
            <a:t>)</a:t>
          </a:r>
          <a:br>
            <a:rPr lang="el-GR" b="0" i="0" baseline="0" dirty="0"/>
          </a:br>
          <a:r>
            <a:rPr lang="el-GR" b="0" i="0" baseline="0" dirty="0"/>
            <a:t>Τα δεδομένα μετασχηματίζονται σε μηδενικό μέσο και </a:t>
          </a:r>
          <a:r>
            <a:rPr lang="el-GR" b="0" i="0" baseline="0" dirty="0" err="1"/>
            <a:t>μοναδιαία</a:t>
          </a:r>
          <a:r>
            <a:rPr lang="el-GR" b="0" i="0" baseline="0" dirty="0"/>
            <a:t> διασπορά</a:t>
          </a:r>
          <a:endParaRPr lang="en-US" dirty="0"/>
        </a:p>
      </dsp:txBody>
      <dsp:txXfrm>
        <a:off x="9612844" y="1754074"/>
        <a:ext cx="2225195" cy="2631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#1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cxnId="4" type="sibTrans">
          <dgm:prSet phldrT="1"/>
          <dgm:t>
            <a:bodyPr/>
            <a:lstStyle/>
            <a:p>
              <a:r>
                <a:rPr/>
                <a:t>01</a:t>
              </a:r>
            </a:p>
          </dgm:t>
        </dgm:pt>
        <dgm:pt modelId="201" cxnId="5" type="sibTrans">
          <dgm:prSet phldrT="2"/>
          <dgm:t>
            <a:bodyPr/>
            <a:lstStyle/>
            <a:p>
              <a:r>
                <a:rPr/>
                <a:t>02</a:t>
              </a:r>
            </a:p>
          </dgm:t>
        </dgm:pt>
        <dgm:pt modelId="301" cxnId="6" type="sibTrans">
          <dgm:prSet phldrT="3"/>
          <dgm:t>
            <a:bodyPr/>
            <a:lstStyle/>
            <a:p>
              <a:r>
                <a:rPr/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stBulletLvl" val="2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567C2-49C1-479D-844E-0378783412B7}" type="datetimeFigureOut">
              <a:rPr lang="el-GR" smtClean="0"/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6569F-8642-477C-A6A2-D01BFA3A9A7C}" type="slidenum">
              <a:rPr lang="el-GR" smtClean="0"/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6569F-8642-477C-A6A2-D01BFA3A9A7C}" type="slidenum">
              <a:rPr lang="el-GR" smtClean="0"/>
            </a:fld>
            <a:endParaRPr lang="el-G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6569F-8642-477C-A6A2-D01BFA3A9A7C}" type="slidenum">
              <a:rPr lang="el-GR" smtClean="0"/>
            </a:fld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2 ερώτημα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6569F-8642-477C-A6A2-D01BFA3A9A7C}" type="slidenum">
              <a:rPr lang="el-GR" smtClean="0"/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  <a:endParaRPr lang="el-G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  <a:endParaRPr lang="el-GR"/>
          </a:p>
          <a:p>
            <a:pPr lvl="1"/>
            <a:r>
              <a:rPr lang="el-GR"/>
              <a:t>Δεύτερο επίπεδο</a:t>
            </a:r>
            <a:endParaRPr lang="el-GR"/>
          </a:p>
          <a:p>
            <a:pPr lvl="2"/>
            <a:r>
              <a:rPr lang="el-GR"/>
              <a:t>Τρίτο επίπεδο</a:t>
            </a:r>
            <a:endParaRPr lang="el-GR"/>
          </a:p>
          <a:p>
            <a:pPr lvl="3"/>
            <a:r>
              <a:rPr lang="el-GR"/>
              <a:t>Τέταρτο επίπεδο</a:t>
            </a:r>
            <a:endParaRPr lang="el-GR"/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491614" y="688257"/>
            <a:ext cx="10569676" cy="2554231"/>
          </a:xfrm>
        </p:spPr>
        <p:txBody>
          <a:bodyPr>
            <a:normAutofit/>
          </a:bodyPr>
          <a:lstStyle/>
          <a:p>
            <a:r>
              <a:rPr lang="el-GR" dirty="0"/>
              <a:t>Παρουσίαση εργασίας. </a:t>
            </a:r>
            <a:br>
              <a:rPr lang="el-GR" dirty="0"/>
            </a:br>
            <a:r>
              <a:rPr lang="el-GR" dirty="0"/>
              <a:t> Αποθήκες και Εξόρυξη Δεδομένων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dirty="0"/>
              <a:t>Αστέριος </a:t>
            </a:r>
            <a:r>
              <a:rPr lang="el-GR" dirty="0" err="1"/>
              <a:t>Πανώρας</a:t>
            </a:r>
            <a:r>
              <a:rPr lang="el-GR" dirty="0"/>
              <a:t> - 4345</a:t>
            </a:r>
            <a:endParaRPr lang="el-GR" dirty="0"/>
          </a:p>
          <a:p>
            <a:r>
              <a:rPr lang="el-GR" dirty="0"/>
              <a:t>Γρηγόριος Κωστίλης - 4408</a:t>
            </a:r>
            <a:endParaRPr lang="el-GR" dirty="0"/>
          </a:p>
          <a:p>
            <a:endParaRPr lang="el-G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6923812" cy="1477328"/>
          </a:xfrm>
        </p:spPr>
        <p:txBody>
          <a:bodyPr wrap="square" anchor="ctr">
            <a:normAutofit/>
          </a:bodyPr>
          <a:lstStyle/>
          <a:p>
            <a:r>
              <a:rPr lang="el-GR" dirty="0"/>
              <a:t>Χαρακτηριστικά Δεδομένων και Προκλήσεις</a:t>
            </a:r>
            <a:endParaRPr lang="el-GR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719999" y="1995948"/>
            <a:ext cx="7480104" cy="4532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dirty="0"/>
              <a:t>Τα δεδομένα αποτελούνται από σημεία σε 2 διαστάσεις, με 5 εμφανείς συστάδες. Υπάρχουν ακραίες τιμές (</a:t>
            </a:r>
            <a:r>
              <a:rPr lang="el-GR" sz="2400" dirty="0" err="1"/>
              <a:t>outliers</a:t>
            </a:r>
            <a:r>
              <a:rPr lang="el-GR" sz="2400" dirty="0"/>
              <a:t>) που πρέπει να εντοπιστούν.</a:t>
            </a:r>
            <a:r>
              <a:rPr lang="en-US" sz="2400" dirty="0"/>
              <a:t> </a:t>
            </a:r>
            <a:r>
              <a:rPr lang="el-GR" sz="2400" dirty="0"/>
              <a:t>Χρησιμοποιήσαμε τα 2 υπάρχοντα </a:t>
            </a:r>
            <a:r>
              <a:rPr lang="en-US" sz="2400" dirty="0"/>
              <a:t>datasets</a:t>
            </a:r>
            <a:r>
              <a:rPr lang="en-GB" altLang="el-GR" sz="2400" dirty="0"/>
              <a:t> </a:t>
            </a:r>
            <a:r>
              <a:rPr lang="el-GR" altLang="el-GR" sz="2400" dirty="0"/>
              <a:t>και δ</a:t>
            </a:r>
            <a:r>
              <a:rPr lang="el-GR" sz="2400" dirty="0"/>
              <a:t>ημιουργήσαμε άλλα </a:t>
            </a:r>
            <a:r>
              <a:rPr lang="en-GB" altLang="el-GR" sz="2400" dirty="0"/>
              <a:t>13 </a:t>
            </a:r>
            <a:r>
              <a:rPr lang="el-GR" altLang="el-GR" sz="2400" dirty="0"/>
              <a:t>συνθετικά </a:t>
            </a:r>
            <a:r>
              <a:rPr lang="el-GR" sz="2400" dirty="0"/>
              <a:t>σύνολα με LLM, με διαφορετική γεωμετρία ή πυκνότητα  και με διάφορα επίπεδα θορύβου και σταθερό αριθμό πραγματικών </a:t>
            </a:r>
            <a:r>
              <a:rPr lang="en-US" sz="2400" dirty="0"/>
              <a:t>cluster 5.</a:t>
            </a:r>
            <a:endParaRPr lang="el-GR" sz="2400" dirty="0"/>
          </a:p>
          <a:p>
            <a:pPr marL="0" indent="0">
              <a:buNone/>
            </a:pPr>
            <a:endParaRPr lang="el-GR" sz="2400" dirty="0"/>
          </a:p>
        </p:txBody>
      </p:sp>
      <p:pic>
        <p:nvPicPr>
          <p:cNvPr id="7" name="Θέση περιεχομένου 5" descr="Εικόνα που περιέχει κείμενο, στιγμιότυπο οθόνης, γράφημα, γραμμή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" r="699"/>
          <a:stretch>
            <a:fillRect/>
          </a:stretch>
        </p:blipFill>
        <p:spPr>
          <a:xfrm>
            <a:off x="8443996" y="10"/>
            <a:ext cx="3748011" cy="2285990"/>
          </a:xfrm>
          <a:custGeom>
            <a:avLst/>
            <a:gdLst/>
            <a:ahLst/>
            <a:cxnLst/>
            <a:rect l="l" t="t" r="r" b="b"/>
            <a:pathLst>
              <a:path w="3748011" h="2286000">
                <a:moveTo>
                  <a:pt x="21" y="0"/>
                </a:moveTo>
                <a:lnTo>
                  <a:pt x="3748011" y="0"/>
                </a:lnTo>
                <a:lnTo>
                  <a:pt x="3748011" y="2286000"/>
                </a:lnTo>
                <a:lnTo>
                  <a:pt x="3327" y="2286000"/>
                </a:lnTo>
                <a:lnTo>
                  <a:pt x="4926" y="2126823"/>
                </a:lnTo>
                <a:cubicBezTo>
                  <a:pt x="11396" y="1451611"/>
                  <a:pt x="13780" y="883826"/>
                  <a:pt x="6295" y="578784"/>
                </a:cubicBezTo>
                <a:cubicBezTo>
                  <a:pt x="2471" y="473789"/>
                  <a:pt x="473" y="331149"/>
                  <a:pt x="0" y="158333"/>
                </a:cubicBezTo>
                <a:close/>
              </a:path>
            </a:pathLst>
          </a:custGeom>
        </p:spPr>
      </p:pic>
      <p:pic>
        <p:nvPicPr>
          <p:cNvPr id="8" name="Εικόνα 7" descr="Εικόνα που περιέχει κείμενο, στιγμιότυπο οθόνης, γράφημα, διάγραμμα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2"/>
          <a:srcRect l="2237" r="5" b="4"/>
          <a:stretch>
            <a:fillRect/>
          </a:stretch>
        </p:blipFill>
        <p:spPr>
          <a:xfrm>
            <a:off x="8420100" y="2286000"/>
            <a:ext cx="3771899" cy="2286000"/>
          </a:xfrm>
          <a:custGeom>
            <a:avLst/>
            <a:gdLst/>
            <a:ahLst/>
            <a:cxnLst/>
            <a:rect l="l" t="t" r="r" b="b"/>
            <a:pathLst>
              <a:path w="3771899" h="2286000">
                <a:moveTo>
                  <a:pt x="27215" y="0"/>
                </a:moveTo>
                <a:lnTo>
                  <a:pt x="3771899" y="0"/>
                </a:lnTo>
                <a:lnTo>
                  <a:pt x="3771899" y="2286000"/>
                </a:lnTo>
                <a:lnTo>
                  <a:pt x="0" y="2286000"/>
                </a:lnTo>
                <a:lnTo>
                  <a:pt x="2934" y="2033425"/>
                </a:lnTo>
                <a:cubicBezTo>
                  <a:pt x="10807" y="1380314"/>
                  <a:pt x="20022" y="689365"/>
                  <a:pt x="26515" y="69660"/>
                </a:cubicBezTo>
                <a:close/>
              </a:path>
            </a:pathLst>
          </a:custGeom>
        </p:spPr>
      </p:pic>
      <p:pic>
        <p:nvPicPr>
          <p:cNvPr id="9" name="Εικόνα 8" descr="Εικόνα που περιέχει κείμενο, στιγμιότυπο οθόνης, γράφημα, διάγραμμα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3"/>
          <a:srcRect l="1906" r="4" b="4"/>
          <a:stretch>
            <a:fillRect/>
          </a:stretch>
        </p:blipFill>
        <p:spPr>
          <a:xfrm>
            <a:off x="8420090" y="4572000"/>
            <a:ext cx="3771899" cy="2286000"/>
          </a:xfrm>
          <a:custGeom>
            <a:avLst/>
            <a:gdLst/>
            <a:ahLst/>
            <a:cxnLst/>
            <a:rect l="l" t="t" r="r" b="b"/>
            <a:pathLst>
              <a:path w="3784670" h="2286000">
                <a:moveTo>
                  <a:pt x="12771" y="0"/>
                </a:moveTo>
                <a:lnTo>
                  <a:pt x="3784670" y="0"/>
                </a:lnTo>
                <a:lnTo>
                  <a:pt x="3784670" y="2286000"/>
                </a:lnTo>
                <a:lnTo>
                  <a:pt x="11249" y="2286000"/>
                </a:lnTo>
                <a:lnTo>
                  <a:pt x="8465" y="2243991"/>
                </a:lnTo>
                <a:cubicBezTo>
                  <a:pt x="-5426" y="1964083"/>
                  <a:pt x="-306" y="1169519"/>
                  <a:pt x="10116" y="228458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1586"/>
          </a:xfrm>
        </p:spPr>
        <p:txBody>
          <a:bodyPr wrap="square">
            <a:normAutofit/>
          </a:bodyPr>
          <a:lstStyle/>
          <a:p>
            <a:r>
              <a:rPr lang="el-GR" dirty="0" err="1"/>
              <a:t>Προεπεξεργασία</a:t>
            </a:r>
            <a:r>
              <a:rPr lang="el-GR" dirty="0"/>
              <a:t> Δεδομένων</a:t>
            </a:r>
            <a:endParaRPr lang="el-GR" dirty="0"/>
          </a:p>
        </p:txBody>
      </p:sp>
      <p:graphicFrame>
        <p:nvGraphicFramePr>
          <p:cNvPr id="7" name="Rectangle 2"/>
          <p:cNvGraphicFramePr>
            <a:graphicFrameLocks noGrp="1"/>
          </p:cNvGraphicFramePr>
          <p:nvPr>
            <p:ph idx="1"/>
          </p:nvPr>
        </p:nvGraphicFramePr>
        <p:xfrm>
          <a:off x="167148" y="2045111"/>
          <a:ext cx="11838039" cy="4385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 descr="Εικόνα που περιέχει κείμενο, στιγμιότυπο οθόνης, διάγραμμα, γράφημα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511" y="3504270"/>
            <a:ext cx="5980489" cy="3353730"/>
          </a:xfrm>
          <a:prstGeom prst="rect">
            <a:avLst/>
          </a:prstGeom>
        </p:spPr>
      </p:pic>
      <p:pic>
        <p:nvPicPr>
          <p:cNvPr id="11" name="Εικόνα 10" descr="Εικόνα που περιέχει διάγραμμα, στιγμιότυπο οθόνης, γράφημα, γραμμή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54" y="0"/>
            <a:ext cx="6118509" cy="3504270"/>
          </a:xfrm>
          <a:prstGeom prst="rect">
            <a:avLst/>
          </a:prstGeom>
        </p:spPr>
      </p:pic>
      <p:pic>
        <p:nvPicPr>
          <p:cNvPr id="9" name="Εικόνα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1"/>
            <a:ext cx="6211511" cy="3429000"/>
          </a:xfrm>
          <a:prstGeom prst="rect">
            <a:avLst/>
          </a:prstGeom>
        </p:spPr>
      </p:pic>
      <p:pic>
        <p:nvPicPr>
          <p:cNvPr id="7" name="Εικόνα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255" y="0"/>
            <a:ext cx="6084745" cy="3504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349505" y="275071"/>
            <a:ext cx="5746495" cy="1476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Two-Stage Clustering </a:t>
            </a:r>
            <a:r>
              <a:rPr lang="el-GR" dirty="0"/>
              <a:t>με </a:t>
            </a:r>
            <a:r>
              <a:rPr lang="en-US" dirty="0"/>
              <a:t>k-means: Micro → Macro</a:t>
            </a:r>
            <a:endParaRPr lang="el-GR" dirty="0"/>
          </a:p>
        </p:txBody>
      </p:sp>
      <p:sp>
        <p:nvSpPr>
          <p:cNvPr id="6" name="Θέση περιεχομένου 5"/>
          <p:cNvSpPr>
            <a:spLocks noGrp="1"/>
          </p:cNvSpPr>
          <p:nvPr>
            <p:ph idx="1"/>
          </p:nvPr>
        </p:nvSpPr>
        <p:spPr>
          <a:xfrm>
            <a:off x="117203" y="1751071"/>
            <a:ext cx="6211097" cy="498402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l-GR" sz="1800" dirty="0"/>
              <a:t>Το </a:t>
            </a:r>
            <a:r>
              <a:rPr lang="el-GR" sz="1800" dirty="0" err="1"/>
              <a:t>dataset</a:t>
            </a:r>
            <a:r>
              <a:rPr lang="el-GR" sz="1800" dirty="0"/>
              <a:t> χωρίζεται αρχικά σε πολλά μικρά </a:t>
            </a:r>
            <a:r>
              <a:rPr lang="el-GR" sz="1800" dirty="0" err="1"/>
              <a:t>micro-clusters</a:t>
            </a:r>
            <a:r>
              <a:rPr lang="el-GR" sz="1800" dirty="0"/>
              <a:t> (200) για να εκτιμηθεί η τοπική πυκνότητα.” Στη συνέχεια, οι </a:t>
            </a:r>
            <a:r>
              <a:rPr lang="el-GR" sz="1800" dirty="0" err="1"/>
              <a:t>micro-clusters</a:t>
            </a:r>
            <a:r>
              <a:rPr lang="el-GR" sz="1800" dirty="0"/>
              <a:t> συγχωνεύονται σε 5 </a:t>
            </a:r>
            <a:r>
              <a:rPr lang="el-GR" sz="1800" dirty="0" err="1"/>
              <a:t>macro-clusters</a:t>
            </a:r>
            <a:r>
              <a:rPr lang="el-GR" sz="1800" dirty="0"/>
              <a:t>, με βάση τη θέση και το μέγεθός τους. “Η απόσταση κάθε σημείου από το κέντρο</a:t>
            </a:r>
            <a:r>
              <a:rPr lang="en-US" sz="1800" dirty="0"/>
              <a:t> micro-cluster </a:t>
            </a:r>
            <a:r>
              <a:rPr lang="el-GR" sz="1800" dirty="0"/>
              <a:t>και </a:t>
            </a:r>
            <a:r>
              <a:rPr lang="el-GR" sz="1800" dirty="0" err="1"/>
              <a:t>macro-cluster</a:t>
            </a:r>
            <a:r>
              <a:rPr lang="el-GR" sz="1800" dirty="0"/>
              <a:t> χρησιμοποιείται για τον εντοπισμό πιθανών </a:t>
            </a:r>
            <a:r>
              <a:rPr lang="el-GR" sz="1800" dirty="0" err="1"/>
              <a:t>outliers</a:t>
            </a:r>
            <a:r>
              <a:rPr lang="el-GR" sz="1800" dirty="0"/>
              <a:t>.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Micro-distance:</a:t>
            </a:r>
            <a:r>
              <a:rPr lang="en-US" sz="1800" dirty="0"/>
              <a:t> </a:t>
            </a:r>
            <a:r>
              <a:rPr lang="el-GR" sz="1800" dirty="0"/>
              <a:t>Απόσταση από το </a:t>
            </a:r>
            <a:r>
              <a:rPr lang="en-US" sz="1800" dirty="0"/>
              <a:t>micro-centroid → </a:t>
            </a:r>
            <a:r>
              <a:rPr lang="el-GR" sz="1800" dirty="0"/>
              <a:t>τοπική συμπεριφορά και πυκνότητα</a:t>
            </a:r>
            <a:endParaRPr lang="el-GR" sz="1800" dirty="0"/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b="1" dirty="0"/>
              <a:t>Macro-distance:</a:t>
            </a:r>
            <a:r>
              <a:rPr lang="en-US" sz="1800" dirty="0"/>
              <a:t> </a:t>
            </a:r>
            <a:r>
              <a:rPr lang="el-GR" sz="1800" dirty="0"/>
              <a:t>Απόσταση από το </a:t>
            </a:r>
            <a:r>
              <a:rPr lang="en-US" sz="1800" dirty="0"/>
              <a:t>macro-centroid → </a:t>
            </a:r>
            <a:r>
              <a:rPr lang="el-GR" sz="1800" dirty="0"/>
              <a:t>συνολική θέση στη δομή</a:t>
            </a:r>
            <a:endParaRPr lang="el-GR" sz="1800" dirty="0"/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800" dirty="0"/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l-GR" sz="1800" dirty="0"/>
          </a:p>
          <a:p>
            <a:pPr>
              <a:lnSpc>
                <a:spcPct val="110000"/>
              </a:lnSpc>
            </a:pPr>
            <a:endParaRPr lang="el-GR" sz="1300" dirty="0"/>
          </a:p>
          <a:p>
            <a:pPr>
              <a:lnSpc>
                <a:spcPct val="110000"/>
              </a:lnSpc>
            </a:pPr>
            <a:endParaRPr lang="el-GR" sz="1300" dirty="0"/>
          </a:p>
        </p:txBody>
      </p:sp>
      <p:pic>
        <p:nvPicPr>
          <p:cNvPr id="13" name="Θέση περιεχομένου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505" y="3334215"/>
            <a:ext cx="5746495" cy="3523785"/>
          </a:xfrm>
          <a:custGeom>
            <a:avLst/>
            <a:gdLst/>
            <a:ahLst/>
            <a:cxnLst/>
            <a:rect l="l" t="t" r="r" b="b"/>
            <a:pathLst>
              <a:path w="4295839" h="2524669">
                <a:moveTo>
                  <a:pt x="0" y="0"/>
                </a:moveTo>
                <a:lnTo>
                  <a:pt x="4295839" y="0"/>
                </a:lnTo>
                <a:lnTo>
                  <a:pt x="4295839" y="2524669"/>
                </a:lnTo>
                <a:lnTo>
                  <a:pt x="0" y="2524669"/>
                </a:lnTo>
                <a:close/>
              </a:path>
            </a:pathLst>
          </a:custGeom>
        </p:spPr>
      </p:pic>
      <p:pic>
        <p:nvPicPr>
          <p:cNvPr id="12" name="Θέση περιεχομένου 4" descr="Εικόνα που περιέχει πολυχρωμία, στιγμιότυπο οθόνης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505" y="0"/>
            <a:ext cx="5746495" cy="3334215"/>
          </a:xfrm>
          <a:custGeom>
            <a:avLst/>
            <a:gdLst/>
            <a:ahLst/>
            <a:cxnLst/>
            <a:rect l="l" t="t" r="r" b="b"/>
            <a:pathLst>
              <a:path w="4295839" h="2524669">
                <a:moveTo>
                  <a:pt x="0" y="0"/>
                </a:moveTo>
                <a:lnTo>
                  <a:pt x="4295839" y="0"/>
                </a:lnTo>
                <a:lnTo>
                  <a:pt x="4295839" y="2524669"/>
                </a:lnTo>
                <a:lnTo>
                  <a:pt x="0" y="2524669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8489" y="95112"/>
            <a:ext cx="6343471" cy="1476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Distance analysis and dynamic threshold density algorithm</a:t>
            </a:r>
            <a:endParaRPr lang="el-GR" dirty="0"/>
          </a:p>
        </p:txBody>
      </p:sp>
      <p:sp>
        <p:nvSpPr>
          <p:cNvPr id="7" name="Θέση περιεχομένου 6"/>
          <p:cNvSpPr>
            <a:spLocks noGrp="1"/>
          </p:cNvSpPr>
          <p:nvPr>
            <p:ph idx="1"/>
          </p:nvPr>
        </p:nvSpPr>
        <p:spPr>
          <a:xfrm>
            <a:off x="0" y="1666224"/>
            <a:ext cx="6369378" cy="500155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1" dirty="0"/>
              <a:t>Isolation check:</a:t>
            </a:r>
            <a:r>
              <a:rPr lang="en-US" sz="1400" dirty="0"/>
              <a:t> </a:t>
            </a:r>
            <a:r>
              <a:rPr lang="el-GR" sz="1400" dirty="0"/>
              <a:t>Σημεία σε </a:t>
            </a:r>
            <a:r>
              <a:rPr lang="en-US" sz="1400" dirty="0"/>
              <a:t>micro-clusters </a:t>
            </a:r>
            <a:r>
              <a:rPr lang="el-GR" sz="1400" dirty="0"/>
              <a:t>με μέγεθος &lt; </a:t>
            </a:r>
            <a:r>
              <a:rPr lang="en-US" sz="1400" dirty="0"/>
              <a:t>MIN_SIZE (20% </a:t>
            </a:r>
            <a:r>
              <a:rPr lang="el-GR" sz="1400" dirty="0"/>
              <a:t>διάμεσου) → αυτόματα ύποπτα για </a:t>
            </a:r>
            <a:r>
              <a:rPr lang="en-US" sz="1400" dirty="0"/>
              <a:t>outlier</a:t>
            </a:r>
            <a:endParaRPr lang="el-GR" sz="1400" dirty="0"/>
          </a:p>
          <a:p>
            <a:pPr>
              <a:lnSpc>
                <a:spcPct val="110000"/>
              </a:lnSpc>
            </a:pPr>
            <a:r>
              <a:rPr lang="en-US" sz="1400" b="1" dirty="0"/>
              <a:t>Dynamic Threshold</a:t>
            </a:r>
            <a:r>
              <a:rPr lang="en-US" sz="1400" dirty="0"/>
              <a:t> (</a:t>
            </a:r>
            <a:r>
              <a:rPr lang="el-GR" sz="1400" dirty="0"/>
              <a:t>ανά </a:t>
            </a:r>
            <a:r>
              <a:rPr lang="en-US" sz="1400" dirty="0"/>
              <a:t>cluster): </a:t>
            </a:r>
            <a:endParaRPr lang="en-US" sz="1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400" dirty="0"/>
              <a:t>threshold = </a:t>
            </a:r>
            <a:r>
              <a:rPr lang="el-GR" sz="1400" dirty="0"/>
              <a:t>μ + σ_</a:t>
            </a:r>
            <a:r>
              <a:rPr lang="en-US" sz="1400" dirty="0"/>
              <a:t>fixed · std (micro-distance)</a:t>
            </a:r>
            <a:endParaRPr lang="en-US" sz="1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l-GR" sz="1400" dirty="0"/>
              <a:t>Όπου σ_</a:t>
            </a:r>
            <a:r>
              <a:rPr lang="en-US" sz="1400" dirty="0"/>
              <a:t>fixed = </a:t>
            </a:r>
            <a:r>
              <a:rPr lang="en-US" altLang="en-GB" sz="1400" dirty="0"/>
              <a:t>3.5</a:t>
            </a:r>
            <a:endParaRPr lang="en-US" altLang="en-GB" sz="1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400" b="1" dirty="0"/>
              <a:t>Adaptive Safety Radius</a:t>
            </a:r>
            <a:r>
              <a:rPr lang="en-US" sz="1400" dirty="0"/>
              <a:t> (</a:t>
            </a:r>
            <a:r>
              <a:rPr lang="el-GR" sz="1400" dirty="0"/>
              <a:t>ανά </a:t>
            </a:r>
            <a:r>
              <a:rPr lang="en-US" sz="1400" dirty="0"/>
              <a:t>macro-cluster): </a:t>
            </a:r>
            <a:endParaRPr lang="en-US" sz="1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400" dirty="0" err="1"/>
              <a:t>safety_radius</a:t>
            </a:r>
            <a:r>
              <a:rPr lang="en-US" sz="1400" dirty="0"/>
              <a:t> = percentile</a:t>
            </a:r>
            <a:r>
              <a:rPr lang="el-GR" altLang="en-US" sz="1400" dirty="0"/>
              <a:t>90%</a:t>
            </a:r>
            <a:r>
              <a:rPr lang="en-US" sz="1400" dirty="0"/>
              <a:t> × </a:t>
            </a:r>
            <a:r>
              <a:rPr lang="en-US" sz="1400" dirty="0" err="1"/>
              <a:t>density_factor</a:t>
            </a:r>
            <a:r>
              <a:rPr lang="en-US" sz="1400" dirty="0"/>
              <a:t> × </a:t>
            </a:r>
            <a:r>
              <a:rPr lang="en-US" sz="1400" dirty="0" err="1"/>
              <a:t>size_penalty</a:t>
            </a:r>
            <a:endParaRPr lang="en-US" sz="1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400" dirty="0"/>
              <a:t>Percentile 90%: </a:t>
            </a:r>
            <a:r>
              <a:rPr lang="el-GR" sz="1400" dirty="0"/>
              <a:t>Βασική ακτίνα (90% σημείων)</a:t>
            </a:r>
            <a:endParaRPr lang="el-GR" sz="1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400" dirty="0"/>
              <a:t>Density factor: 1/(1 + 0.5×mean_dist) → </a:t>
            </a:r>
            <a:r>
              <a:rPr lang="el-GR" sz="1400" dirty="0"/>
              <a:t>μειώνει για αραιά </a:t>
            </a:r>
            <a:r>
              <a:rPr lang="en-US" sz="1400" dirty="0"/>
              <a:t>clusters</a:t>
            </a:r>
            <a:endParaRPr lang="en-US" sz="1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400" dirty="0"/>
              <a:t>Size penalty: 0.8× </a:t>
            </a:r>
            <a:r>
              <a:rPr lang="el-GR" sz="1400" dirty="0"/>
              <a:t>για </a:t>
            </a:r>
            <a:r>
              <a:rPr lang="en-US" sz="1400" dirty="0"/>
              <a:t>clusters &lt;50 </a:t>
            </a:r>
            <a:r>
              <a:rPr lang="el-GR" sz="1400" dirty="0"/>
              <a:t>σημεία</a:t>
            </a:r>
            <a:endParaRPr lang="el-GR" sz="1400" dirty="0"/>
          </a:p>
          <a:p>
            <a:pPr>
              <a:lnSpc>
                <a:spcPct val="110000"/>
              </a:lnSpc>
            </a:pPr>
            <a:r>
              <a:rPr lang="el-GR" sz="1400" b="1" dirty="0"/>
              <a:t>Τελική Απόφαση</a:t>
            </a:r>
            <a:r>
              <a:rPr lang="en-US" sz="1400" b="1" dirty="0"/>
              <a:t> </a:t>
            </a:r>
            <a:r>
              <a:rPr lang="el-GR" sz="1400" b="1" dirty="0"/>
              <a:t>για ένα </a:t>
            </a:r>
            <a:r>
              <a:rPr lang="el-GR" sz="1400" b="1" dirty="0" err="1"/>
              <a:t>σημειο</a:t>
            </a:r>
            <a:r>
              <a:rPr lang="en-US" sz="1400" b="1" dirty="0"/>
              <a:t> </a:t>
            </a:r>
            <a:r>
              <a:rPr lang="el-GR" sz="1400" b="1" dirty="0"/>
              <a:t> :</a:t>
            </a:r>
            <a:endParaRPr lang="el-GR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Outlier ⟺ [(</a:t>
            </a:r>
            <a:r>
              <a:rPr lang="en-US" sz="1400" dirty="0" err="1"/>
              <a:t>micro_dist</a:t>
            </a:r>
            <a:r>
              <a:rPr lang="en-US" sz="1400" dirty="0"/>
              <a:t> &gt; threshold </a:t>
            </a:r>
            <a:r>
              <a:rPr lang="el-GR" sz="1400" dirty="0"/>
              <a:t>ΚΑΙ </a:t>
            </a:r>
            <a:r>
              <a:rPr lang="en-US" sz="1400" dirty="0" err="1"/>
              <a:t>macro_dist</a:t>
            </a:r>
            <a:r>
              <a:rPr lang="en-US" sz="1400" dirty="0"/>
              <a:t> &gt; </a:t>
            </a:r>
            <a:r>
              <a:rPr lang="en-US" sz="1400" dirty="0" err="1"/>
              <a:t>safety_radius</a:t>
            </a:r>
            <a:r>
              <a:rPr lang="en-US" sz="1400" dirty="0"/>
              <a:t>) </a:t>
            </a:r>
            <a:r>
              <a:rPr lang="el-GR" sz="1400" dirty="0"/>
              <a:t>Ή (</a:t>
            </a:r>
            <a:r>
              <a:rPr lang="en-US" sz="1400" dirty="0" err="1"/>
              <a:t>is_isolated</a:t>
            </a:r>
            <a:r>
              <a:rPr lang="en-US" sz="1400" dirty="0"/>
              <a:t> </a:t>
            </a:r>
            <a:r>
              <a:rPr lang="el-GR" sz="1400" dirty="0"/>
              <a:t>ΚΑΙ </a:t>
            </a:r>
            <a:r>
              <a:rPr lang="en-US" sz="1400" dirty="0" err="1"/>
              <a:t>macro_dist</a:t>
            </a:r>
            <a:r>
              <a:rPr lang="en-US" sz="1400" dirty="0"/>
              <a:t> &gt; </a:t>
            </a:r>
            <a:r>
              <a:rPr lang="en-US" sz="1400" dirty="0" err="1"/>
              <a:t>safety_radius</a:t>
            </a:r>
            <a:r>
              <a:rPr lang="en-US" sz="1400" dirty="0"/>
              <a:t>)]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l-GR" sz="1400" dirty="0"/>
              <a:t>Είναι κλιμακώσιμος 5.</a:t>
            </a:r>
            <a:r>
              <a:rPr lang="en-GB" altLang="el-GR" sz="1400" dirty="0"/>
              <a:t>7 sec/46k points, </a:t>
            </a:r>
            <a:r>
              <a:rPr lang="en-US" altLang="en-GB" sz="1400" dirty="0"/>
              <a:t>266</a:t>
            </a:r>
            <a:r>
              <a:rPr lang="en-GB" altLang="en-US" sz="1400" dirty="0"/>
              <a:t> sec/1m points</a:t>
            </a:r>
            <a:endParaRPr lang="en-GB" altLang="en-US" sz="1400" dirty="0"/>
          </a:p>
          <a:p>
            <a:pPr>
              <a:lnSpc>
                <a:spcPct val="110000"/>
              </a:lnSpc>
            </a:pPr>
            <a:endParaRPr lang="en-GB" altLang="en-US" sz="1400" dirty="0"/>
          </a:p>
        </p:txBody>
      </p:sp>
      <p:sp useBgFill="1">
        <p:nvSpPr>
          <p:cNvPr id="36" name="Freeform: Shap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 rot="5400000" flipV="1">
            <a:off x="5867335" y="533334"/>
            <a:ext cx="6858000" cy="5791331"/>
          </a:xfrm>
          <a:custGeom>
            <a:avLst/>
            <a:gdLst>
              <a:gd name="connsiteX0" fmla="*/ 6858000 w 6858000"/>
              <a:gd name="connsiteY0" fmla="*/ 14535 h 5791331"/>
              <a:gd name="connsiteX1" fmla="*/ 6858000 w 6858000"/>
              <a:gd name="connsiteY1" fmla="*/ 5791331 h 5791331"/>
              <a:gd name="connsiteX2" fmla="*/ 0 w 6858000"/>
              <a:gd name="connsiteY2" fmla="*/ 5791330 h 5791331"/>
              <a:gd name="connsiteX3" fmla="*/ 0 w 6858000"/>
              <a:gd name="connsiteY3" fmla="*/ 0 h 5791331"/>
              <a:gd name="connsiteX4" fmla="*/ 145832 w 6858000"/>
              <a:gd name="connsiteY4" fmla="*/ 1175 h 5791331"/>
              <a:gd name="connsiteX5" fmla="*/ 2611132 w 6858000"/>
              <a:gd name="connsiteY5" fmla="*/ 48625 h 5791331"/>
              <a:gd name="connsiteX6" fmla="*/ 6643031 w 6858000"/>
              <a:gd name="connsiteY6" fmla="*/ 15010 h 5791331"/>
              <a:gd name="connsiteX0-1" fmla="*/ 6858000 w 6858000"/>
              <a:gd name="connsiteY0-2" fmla="*/ 14535 h 5791331"/>
              <a:gd name="connsiteX1-3" fmla="*/ 6858000 w 6858000"/>
              <a:gd name="connsiteY1-4" fmla="*/ 5791331 h 5791331"/>
              <a:gd name="connsiteX2-5" fmla="*/ 0 w 6858000"/>
              <a:gd name="connsiteY2-6" fmla="*/ 5791330 h 5791331"/>
              <a:gd name="connsiteX3-7" fmla="*/ 0 w 6858000"/>
              <a:gd name="connsiteY3-8" fmla="*/ 0 h 5791331"/>
              <a:gd name="connsiteX4-9" fmla="*/ 145832 w 6858000"/>
              <a:gd name="connsiteY4-10" fmla="*/ 1175 h 5791331"/>
              <a:gd name="connsiteX5-11" fmla="*/ 2611132 w 6858000"/>
              <a:gd name="connsiteY5-12" fmla="*/ 48625 h 5791331"/>
              <a:gd name="connsiteX6-13" fmla="*/ 6643031 w 6858000"/>
              <a:gd name="connsiteY6-14" fmla="*/ 15010 h 5791331"/>
              <a:gd name="connsiteX7" fmla="*/ 6858000 w 6858000"/>
              <a:gd name="connsiteY7" fmla="*/ 14535 h 5791331"/>
              <a:gd name="connsiteX0-15" fmla="*/ 6858000 w 6858000"/>
              <a:gd name="connsiteY0-16" fmla="*/ 14535 h 5791331"/>
              <a:gd name="connsiteX1-17" fmla="*/ 6858000 w 6858000"/>
              <a:gd name="connsiteY1-18" fmla="*/ 5791331 h 5791331"/>
              <a:gd name="connsiteX2-19" fmla="*/ 0 w 6858000"/>
              <a:gd name="connsiteY2-20" fmla="*/ 5791330 h 5791331"/>
              <a:gd name="connsiteX3-21" fmla="*/ 0 w 6858000"/>
              <a:gd name="connsiteY3-22" fmla="*/ 0 h 5791331"/>
              <a:gd name="connsiteX4-23" fmla="*/ 145832 w 6858000"/>
              <a:gd name="connsiteY4-24" fmla="*/ 1175 h 5791331"/>
              <a:gd name="connsiteX5-25" fmla="*/ 2611132 w 6858000"/>
              <a:gd name="connsiteY5-26" fmla="*/ 48625 h 5791331"/>
              <a:gd name="connsiteX6-27" fmla="*/ 6643031 w 6858000"/>
              <a:gd name="connsiteY6-28" fmla="*/ 15010 h 5791331"/>
              <a:gd name="connsiteX7-29" fmla="*/ 6858000 w 6858000"/>
              <a:gd name="connsiteY7-30" fmla="*/ 14535 h 5791331"/>
              <a:gd name="connsiteX0-31" fmla="*/ 6858000 w 6858000"/>
              <a:gd name="connsiteY0-32" fmla="*/ 14535 h 5791331"/>
              <a:gd name="connsiteX1-33" fmla="*/ 6858000 w 6858000"/>
              <a:gd name="connsiteY1-34" fmla="*/ 5791331 h 5791331"/>
              <a:gd name="connsiteX2-35" fmla="*/ 0 w 6858000"/>
              <a:gd name="connsiteY2-36" fmla="*/ 5791330 h 5791331"/>
              <a:gd name="connsiteX3-37" fmla="*/ 0 w 6858000"/>
              <a:gd name="connsiteY3-38" fmla="*/ 0 h 5791331"/>
              <a:gd name="connsiteX4-39" fmla="*/ 145832 w 6858000"/>
              <a:gd name="connsiteY4-40" fmla="*/ 1175 h 5791331"/>
              <a:gd name="connsiteX5-41" fmla="*/ 2233764 w 6858000"/>
              <a:gd name="connsiteY5-42" fmla="*/ 19600 h 5791331"/>
              <a:gd name="connsiteX6-43" fmla="*/ 6643031 w 6858000"/>
              <a:gd name="connsiteY6-44" fmla="*/ 15010 h 5791331"/>
              <a:gd name="connsiteX7-45" fmla="*/ 6858000 w 6858000"/>
              <a:gd name="connsiteY7-46" fmla="*/ 14535 h 57913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6858000" h="5791331">
                <a:moveTo>
                  <a:pt x="6858000" y="14535"/>
                </a:moveTo>
                <a:lnTo>
                  <a:pt x="6858000" y="5791331"/>
                </a:lnTo>
                <a:lnTo>
                  <a:pt x="0" y="5791330"/>
                </a:lnTo>
                <a:lnTo>
                  <a:pt x="0" y="0"/>
                </a:lnTo>
                <a:lnTo>
                  <a:pt x="145832" y="1175"/>
                </a:lnTo>
                <a:lnTo>
                  <a:pt x="2233764" y="19600"/>
                </a:lnTo>
                <a:cubicBezTo>
                  <a:pt x="2933352" y="33230"/>
                  <a:pt x="5032814" y="16325"/>
                  <a:pt x="6643031" y="15010"/>
                </a:cubicBezTo>
                <a:lnTo>
                  <a:pt x="6858000" y="1453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10" name="Εικόνα 9" descr="Εικόνα που περιέχει κείμενο, στιγμιότυπο οθόνης, διάγραμμα, γράφημα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1"/>
          <a:srcRect t="18613" r="-2" b="-2"/>
          <a:stretch>
            <a:fillRect/>
          </a:stretch>
        </p:blipFill>
        <p:spPr>
          <a:xfrm>
            <a:off x="6432140" y="1"/>
            <a:ext cx="5791152" cy="3604668"/>
          </a:xfrm>
          <a:custGeom>
            <a:avLst/>
            <a:gdLst/>
            <a:ahLst/>
            <a:cxnLst/>
            <a:rect l="l" t="t" r="r" b="b"/>
            <a:pathLst>
              <a:path w="4295839" h="2524669">
                <a:moveTo>
                  <a:pt x="0" y="0"/>
                </a:moveTo>
                <a:lnTo>
                  <a:pt x="4295839" y="0"/>
                </a:lnTo>
                <a:lnTo>
                  <a:pt x="4295839" y="2524669"/>
                </a:lnTo>
                <a:lnTo>
                  <a:pt x="0" y="2524669"/>
                </a:lnTo>
                <a:close/>
              </a:path>
            </a:pathLst>
          </a:custGeom>
        </p:spPr>
      </p:pic>
      <p:pic>
        <p:nvPicPr>
          <p:cNvPr id="11" name="Εικόνα 10" descr="Εικόνα που περιέχει διάγραμμα, κείμενο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2"/>
          <a:srcRect t="3875" r="4" b="4"/>
          <a:stretch>
            <a:fillRect/>
          </a:stretch>
        </p:blipFill>
        <p:spPr>
          <a:xfrm>
            <a:off x="6431961" y="3604669"/>
            <a:ext cx="5766425" cy="3253329"/>
          </a:xfrm>
          <a:custGeom>
            <a:avLst/>
            <a:gdLst/>
            <a:ahLst/>
            <a:cxnLst/>
            <a:rect l="l" t="t" r="r" b="b"/>
            <a:pathLst>
              <a:path w="4295839" h="2524669">
                <a:moveTo>
                  <a:pt x="0" y="0"/>
                </a:moveTo>
                <a:lnTo>
                  <a:pt x="4295839" y="0"/>
                </a:lnTo>
                <a:lnTo>
                  <a:pt x="4295839" y="2524669"/>
                </a:lnTo>
                <a:lnTo>
                  <a:pt x="0" y="2524669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176980" y="195401"/>
            <a:ext cx="11651225" cy="1477328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dirty="0"/>
              <a:t>Density vs Adaptive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6981" y="1307691"/>
            <a:ext cx="6223819" cy="52110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1. Distance metric: Density</a:t>
            </a:r>
            <a:r>
              <a:rPr lang="el-GR" altLang="en-US" sz="2000" spc="20" dirty="0">
                <a:solidFill>
                  <a:schemeClr val="tx1">
                    <a:alpha val="58000"/>
                  </a:schemeClr>
                </a:solidFill>
              </a:rPr>
              <a:t>-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Euclidean | Adaptive</a:t>
            </a:r>
            <a:r>
              <a:rPr lang="el-GR" altLang="en-US" sz="2000" spc="20" dirty="0">
                <a:solidFill>
                  <a:schemeClr val="tx1">
                    <a:alpha val="58000"/>
                  </a:schemeClr>
                </a:solidFill>
              </a:rPr>
              <a:t>-</a:t>
            </a:r>
            <a:r>
              <a:rPr lang="en-US" sz="2000" spc="20" dirty="0" err="1">
                <a:solidFill>
                  <a:schemeClr val="tx1">
                    <a:alpha val="58000"/>
                  </a:schemeClr>
                </a:solidFill>
              </a:rPr>
              <a:t>Mahalanobis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 (λαμβ</a:t>
            </a:r>
            <a:r>
              <a:rPr lang="en-US" sz="2000" spc="20" dirty="0" err="1">
                <a:solidFill>
                  <a:schemeClr val="tx1">
                    <a:alpha val="58000"/>
                  </a:schemeClr>
                </a:solidFill>
              </a:rPr>
              <a:t>άνει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 </a:t>
            </a:r>
            <a:r>
              <a:rPr lang="en-US" sz="2000" spc="20" dirty="0" err="1">
                <a:solidFill>
                  <a:schemeClr val="tx1">
                    <a:alpha val="58000"/>
                  </a:schemeClr>
                </a:solidFill>
              </a:rPr>
              <a:t>συσχέτιση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 features)</a:t>
            </a: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 2. Threshold sigma: Density</a:t>
            </a:r>
            <a:r>
              <a:rPr lang="el-GR" altLang="en-US" sz="2000" spc="20" dirty="0">
                <a:solidFill>
                  <a:schemeClr val="tx1">
                    <a:alpha val="58000"/>
                  </a:schemeClr>
                </a:solidFill>
              </a:rPr>
              <a:t>-</a:t>
            </a:r>
            <a:r>
              <a:rPr lang="en-US" sz="2000" spc="20" dirty="0" err="1">
                <a:solidFill>
                  <a:schemeClr val="tx1">
                    <a:alpha val="58000"/>
                  </a:schemeClr>
                </a:solidFill>
              </a:rPr>
              <a:t>στ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αθερό  | Adaptive</a:t>
            </a:r>
            <a:r>
              <a:rPr lang="el-GR" altLang="en-US" sz="2000" spc="20" dirty="0">
                <a:solidFill>
                  <a:schemeClr val="tx1">
                    <a:alpha val="58000"/>
                  </a:schemeClr>
                </a:solidFill>
              </a:rPr>
              <a:t>-δυναιμκό 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σ = clip(2.5 + std/μ, 2.5, 4.5)</a:t>
            </a: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 3. Safety radius percentile: Density </a:t>
            </a:r>
            <a:r>
              <a:rPr lang="en-US" sz="2000" spc="20" dirty="0" err="1">
                <a:solidFill>
                  <a:schemeClr val="tx1">
                    <a:alpha val="58000"/>
                  </a:schemeClr>
                </a:solidFill>
              </a:rPr>
              <a:t>στ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αθερό 90% | Adaptive → 85/90/95% ανάλογα με fraction = size/N_total        </a:t>
            </a: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 4. Density factor: Density ΝΑΙ (1/(1+0.5·mean_dist)) | Adaptive ΟΧΙ</a:t>
            </a: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5. Size penalty: Density → &lt;50 </a:t>
            </a:r>
            <a:r>
              <a:rPr lang="en-US" sz="2000" spc="20" dirty="0" err="1">
                <a:solidFill>
                  <a:schemeClr val="tx1">
                    <a:alpha val="58000"/>
                  </a:schemeClr>
                </a:solidFill>
              </a:rPr>
              <a:t>σημεί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α (απόλυτο) | Adaptive → &lt;5% dataset (σχετικό)</a:t>
            </a: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</p:txBody>
      </p:sp>
      <p:graphicFrame>
        <p:nvGraphicFramePr>
          <p:cNvPr id="4" name="Θέση περιεχομένου 3"/>
          <p:cNvGraphicFramePr>
            <a:graphicFrameLocks noGrp="1"/>
          </p:cNvGraphicFramePr>
          <p:nvPr>
            <p:ph idx="1"/>
          </p:nvPr>
        </p:nvGraphicFramePr>
        <p:xfrm>
          <a:off x="6432494" y="1307691"/>
          <a:ext cx="5582525" cy="3500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517"/>
                <a:gridCol w="1458529"/>
                <a:gridCol w="2444479"/>
              </a:tblGrid>
              <a:tr h="1036082">
                <a:tc>
                  <a:txBody>
                    <a:bodyPr/>
                    <a:lstStyle/>
                    <a:p>
                      <a:r>
                        <a:rPr lang="en-US" sz="2200" dirty="0"/>
                        <a:t>metric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Density-Based</a:t>
                      </a:r>
                      <a:endParaRPr lang="el-GR" sz="220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Adaptive (Mahalanobis) </a:t>
                      </a:r>
                      <a:endParaRPr lang="el-GR" sz="2200"/>
                    </a:p>
                  </a:txBody>
                  <a:tcPr marL="109947" marR="109947" marT="54973" marB="54973"/>
                </a:tc>
              </a:tr>
              <a:tr h="616050">
                <a:tc>
                  <a:txBody>
                    <a:bodyPr/>
                    <a:lstStyle/>
                    <a:p>
                      <a:r>
                        <a:rPr lang="en-US" sz="2200" dirty="0"/>
                        <a:t>Precision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0.8353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0.809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</a:tr>
              <a:tr h="616050">
                <a:tc>
                  <a:txBody>
                    <a:bodyPr/>
                    <a:lstStyle/>
                    <a:p>
                      <a:r>
                        <a:rPr lang="en-US" sz="2200"/>
                        <a:t>Recall</a:t>
                      </a:r>
                      <a:endParaRPr lang="el-GR" sz="220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0.7193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0.715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</a:tr>
              <a:tr h="616050">
                <a:tc>
                  <a:txBody>
                    <a:bodyPr/>
                    <a:lstStyle/>
                    <a:p>
                      <a:r>
                        <a:rPr lang="en-US" sz="2200"/>
                        <a:t>F1</a:t>
                      </a:r>
                      <a:endParaRPr lang="el-GR" sz="220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0.7533</a:t>
                      </a:r>
                      <a:endParaRPr lang="el-GR" sz="220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0.71</a:t>
                      </a:r>
                      <a:endParaRPr lang="el-GR" sz="2200"/>
                    </a:p>
                  </a:txBody>
                  <a:tcPr marL="109947" marR="109947" marT="54973" marB="54973"/>
                </a:tc>
              </a:tr>
              <a:tr h="616050">
                <a:tc>
                  <a:txBody>
                    <a:bodyPr/>
                    <a:lstStyle/>
                    <a:p>
                      <a:r>
                        <a:rPr lang="en-US" sz="2200" dirty="0"/>
                        <a:t>Accuracy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0.9612</a:t>
                      </a:r>
                      <a:endParaRPr lang="el-GR" sz="2200"/>
                    </a:p>
                  </a:txBody>
                  <a:tcPr marL="109947" marR="109947" marT="54973" marB="54973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0.9583</a:t>
                      </a:r>
                      <a:endParaRPr lang="el-GR" sz="2200" dirty="0"/>
                    </a:p>
                  </a:txBody>
                  <a:tcPr marL="109947" marR="109947" marT="54973" marB="54973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Θέση περιεχομένου 8"/>
          <p:cNvSpPr>
            <a:spLocks noGrp="1"/>
          </p:cNvSpPr>
          <p:nvPr>
            <p:ph idx="1"/>
          </p:nvPr>
        </p:nvSpPr>
        <p:spPr>
          <a:xfrm>
            <a:off x="1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800" b="1" dirty="0"/>
              <a:t>Κριτική αξιολόγηση βημάτων με το </a:t>
            </a:r>
            <a:r>
              <a:rPr lang="en-US" sz="2800" b="1" dirty="0" err="1"/>
              <a:t>chatgpt</a:t>
            </a:r>
            <a:endParaRPr lang="el-GR" sz="2800" b="1" dirty="0"/>
          </a:p>
          <a:p>
            <a:pPr marL="0" indent="0">
              <a:buNone/>
            </a:pPr>
            <a:r>
              <a:rPr lang="el-GR" dirty="0"/>
              <a:t>Ρωτήσαμε το </a:t>
            </a:r>
            <a:r>
              <a:rPr lang="el-GR" dirty="0" err="1"/>
              <a:t>ChatGPT</a:t>
            </a:r>
            <a:r>
              <a:rPr lang="el-GR" dirty="0"/>
              <a:t> ξεχωριστά σε κάθε στάδιο της εργασίας (φόρτωση δεδομένων, καθαρισμός, </a:t>
            </a:r>
            <a:r>
              <a:rPr lang="el-GR" dirty="0" err="1"/>
              <a:t>scaling</a:t>
            </a:r>
            <a:r>
              <a:rPr lang="el-GR" dirty="0"/>
              <a:t>, </a:t>
            </a:r>
            <a:r>
              <a:rPr lang="el-GR" dirty="0" err="1"/>
              <a:t>clustering</a:t>
            </a:r>
            <a:r>
              <a:rPr lang="el-GR" dirty="0"/>
              <a:t>, ανίχνευση </a:t>
            </a:r>
            <a:r>
              <a:rPr lang="el-GR" dirty="0" err="1"/>
              <a:t>outliers</a:t>
            </a:r>
            <a:r>
              <a:rPr lang="el-GR" dirty="0"/>
              <a:t>).Σε κάθε βήμα πρότεινε τυπικές πρακτικές, οι οποίες συνοψίζονται σε: φόρτωση CSV με </a:t>
            </a:r>
            <a:r>
              <a:rPr lang="el-GR" dirty="0" err="1"/>
              <a:t>pandas</a:t>
            </a:r>
            <a:r>
              <a:rPr lang="el-GR" dirty="0"/>
              <a:t> → καθαρισμός </a:t>
            </a:r>
            <a:r>
              <a:rPr lang="el-GR" dirty="0" err="1"/>
              <a:t>NaN</a:t>
            </a:r>
            <a:r>
              <a:rPr lang="el-GR" dirty="0"/>
              <a:t>/</a:t>
            </a:r>
            <a:r>
              <a:rPr lang="el-GR" dirty="0" err="1"/>
              <a:t>inf</a:t>
            </a:r>
            <a:r>
              <a:rPr lang="el-GR" dirty="0"/>
              <a:t>/</a:t>
            </a:r>
            <a:r>
              <a:rPr lang="el-GR" dirty="0" err="1"/>
              <a:t>duplicates</a:t>
            </a:r>
            <a:r>
              <a:rPr lang="el-GR" dirty="0"/>
              <a:t> → </a:t>
            </a:r>
            <a:r>
              <a:rPr lang="el-GR" dirty="0" err="1"/>
              <a:t>scaling</a:t>
            </a:r>
            <a:r>
              <a:rPr lang="el-GR" dirty="0"/>
              <a:t> → k-</a:t>
            </a:r>
            <a:r>
              <a:rPr lang="el-GR" dirty="0" err="1"/>
              <a:t>means</a:t>
            </a:r>
            <a:r>
              <a:rPr lang="el-GR" dirty="0"/>
              <a:t> → </a:t>
            </a:r>
            <a:r>
              <a:rPr lang="el-GR" dirty="0" err="1"/>
              <a:t>outliers</a:t>
            </a:r>
            <a:r>
              <a:rPr lang="el-GR" dirty="0"/>
              <a:t> με </a:t>
            </a:r>
            <a:r>
              <a:rPr lang="el-GR" dirty="0" err="1"/>
              <a:t>mean+σ.Η</a:t>
            </a:r>
            <a:r>
              <a:rPr lang="el-GR" dirty="0"/>
              <a:t> προσέγγιση είναι θεωρητικά σωστή, αλλά παραμένει πολύ </a:t>
            </a:r>
            <a:r>
              <a:rPr lang="el-GR" dirty="0" err="1"/>
              <a:t>γενική.Η</a:t>
            </a:r>
            <a:r>
              <a:rPr lang="el-GR" dirty="0"/>
              <a:t> απλή αντιγραφή των βημάτων οδηγεί σε έναν λειτουργικό αλλά μη αποδοτικό αλγόριθμο, χωρίς προσαρμογή στα χαρακτηριστικά των </a:t>
            </a:r>
            <a:r>
              <a:rPr lang="el-GR" dirty="0" err="1"/>
              <a:t>clusters</a:t>
            </a:r>
            <a:r>
              <a:rPr lang="el-GR" dirty="0"/>
              <a:t>. Με </a:t>
            </a:r>
            <a:r>
              <a:rPr lang="el-GR" dirty="0" err="1"/>
              <a:t>στοχευμένες</a:t>
            </a:r>
            <a:r>
              <a:rPr lang="el-GR" dirty="0"/>
              <a:t> ερωτήσεις και απαίτηση για περισσότερες διευκρινίσεις, οι απαντήσεις βελτιώθηκαν.</a:t>
            </a:r>
            <a:endParaRPr lang="en-US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l-GR" sz="2800" b="1" dirty="0" err="1"/>
              <a:t>Ανιχνευση</a:t>
            </a:r>
            <a:r>
              <a:rPr lang="el-GR" sz="2800" b="1" dirty="0"/>
              <a:t> </a:t>
            </a:r>
            <a:r>
              <a:rPr lang="en-US" sz="2800" b="1" dirty="0"/>
              <a:t>outliers </a:t>
            </a:r>
            <a:r>
              <a:rPr lang="el-GR" sz="2800" b="1" dirty="0" err="1"/>
              <a:t>απο</a:t>
            </a:r>
            <a:r>
              <a:rPr lang="en-US" sz="2800" b="1" dirty="0"/>
              <a:t> </a:t>
            </a:r>
            <a:r>
              <a:rPr lang="en-US" sz="2800" b="1" dirty="0" err="1"/>
              <a:t>chatgpt</a:t>
            </a:r>
            <a:endParaRPr lang="en-US" sz="2800" b="1" dirty="0"/>
          </a:p>
          <a:p>
            <a:pPr marL="0" indent="0">
              <a:buNone/>
            </a:pPr>
            <a:r>
              <a:rPr lang="el-GR" dirty="0"/>
              <a:t>Στείλαμε το </a:t>
            </a:r>
            <a:r>
              <a:rPr lang="el-GR" dirty="0" err="1"/>
              <a:t>txt</a:t>
            </a:r>
            <a:r>
              <a:rPr lang="el-GR" dirty="0"/>
              <a:t> </a:t>
            </a:r>
            <a:r>
              <a:rPr lang="el-GR" dirty="0" err="1"/>
              <a:t>file</a:t>
            </a:r>
            <a:r>
              <a:rPr lang="el-GR" dirty="0"/>
              <a:t> του 1ου </a:t>
            </a:r>
            <a:r>
              <a:rPr lang="el-GR" dirty="0" err="1"/>
              <a:t>dataset</a:t>
            </a:r>
            <a:r>
              <a:rPr lang="el-GR" dirty="0"/>
              <a:t> στο </a:t>
            </a:r>
            <a:r>
              <a:rPr lang="el-GR" dirty="0" err="1"/>
              <a:t>ChatGPT</a:t>
            </a:r>
            <a:r>
              <a:rPr lang="el-GR" dirty="0"/>
              <a:t> για ανίχνευση </a:t>
            </a:r>
            <a:r>
              <a:rPr lang="el-GR" dirty="0" err="1"/>
              <a:t>outliers</a:t>
            </a:r>
            <a:r>
              <a:rPr lang="el-GR" dirty="0"/>
              <a:t>. Εφάρμοσε 2 τρόπους και αρχικά δήλωσε ότι δεν βρήκε κανένα </a:t>
            </a:r>
            <a:r>
              <a:rPr lang="el-GR" dirty="0" err="1"/>
              <a:t>outlier</a:t>
            </a:r>
            <a:r>
              <a:rPr lang="el-GR" dirty="0"/>
              <a:t>. Όταν το ρωτήσαμε ξανά, παραδέχτηκε ότι δεν είναι σίγουρο και εξαρτάται από τα κριτήρια. Το λάθος του ήταν ότι παρουσίασε τα αποτελέσματα με βεβαιότητα χωρίς να διευκρινίσει τις υποθέσεις.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0" y="0"/>
            <a:ext cx="10728322" cy="711200"/>
          </a:xfrm>
        </p:spPr>
        <p:txBody>
          <a:bodyPr wrap="square" anchor="t">
            <a:normAutofit/>
          </a:bodyPr>
          <a:lstStyle/>
          <a:p>
            <a:r>
              <a:rPr lang="en-US"/>
              <a:t>AI Data-Mining Agent</a:t>
            </a:r>
            <a:endParaRPr lang="el-GR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0" y="508000"/>
            <a:ext cx="5723800" cy="6350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l-GR" sz="1800"/>
              <a:t>Βάλαμε τεκμηρίωση στον </a:t>
            </a:r>
            <a:r>
              <a:rPr lang="en-US" sz="1800"/>
              <a:t>dbscan,</a:t>
            </a:r>
            <a:r>
              <a:rPr lang="el-GR" sz="1800"/>
              <a:t>τώρα ο </a:t>
            </a:r>
            <a:r>
              <a:rPr lang="en-US" sz="1800"/>
              <a:t>agent</a:t>
            </a:r>
            <a:r>
              <a:rPr lang="el-GR" sz="1800"/>
              <a:t> μπορεί να χρησιμοποιεί σωστά DBSCAN clustering από αρχείο δεδομένων. Περιλαμβάνει επεξηγήσεις για τις παραμέτρους eps και min_samples Προσφέρει καθοδήγηση για πότε το DBSCAN είναι κατάλληλο: Ανίχνευση ανωμαλιών / outliers, μη σφαιρικά ή περίπλοκα clusters. Δε χρειάζεται να ξέρουμε τον αριθμό των clusters εκ των προτέρων Προειδοποιεί πότε να αποφεύγεται: clusters διαφορετικής πυκνότητας, πολύ μεγάλες διαστάσεις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l-GR" sz="1800"/>
              <a:t>Ρωτησαμε:</a:t>
            </a:r>
            <a:endParaRPr lang="el-GR" sz="1800"/>
          </a:p>
          <a:p>
            <a:pPr>
              <a:lnSpc>
                <a:spcPct val="110000"/>
              </a:lnSpc>
            </a:pPr>
            <a:r>
              <a:rPr lang="el-GR" sz="1800"/>
              <a:t>‘’Κανε </a:t>
            </a:r>
            <a:r>
              <a:rPr lang="en-US" sz="1800"/>
              <a:t>dbscan </a:t>
            </a:r>
            <a:r>
              <a:rPr lang="el-GR" sz="1800"/>
              <a:t>στο </a:t>
            </a:r>
            <a:r>
              <a:rPr lang="en-US" sz="1800"/>
              <a:t>C:\Programming</a:t>
            </a:r>
            <a:r>
              <a:rPr lang="el-GR" sz="1800"/>
              <a:t>Εργασία Αποθήκες-Εξόρυξη Δεδομένων\</a:t>
            </a:r>
            <a:r>
              <a:rPr lang="en-US" sz="1800"/>
              <a:t>LLM\DaMi\data\synthetic_datasets\synth_shapes\ground_truth.csv</a:t>
            </a:r>
            <a:r>
              <a:rPr lang="el-GR" sz="1800"/>
              <a:t>’’</a:t>
            </a:r>
            <a:endParaRPr lang="el-GR" sz="1800"/>
          </a:p>
          <a:p>
            <a:pPr>
              <a:lnSpc>
                <a:spcPct val="110000"/>
              </a:lnSpc>
            </a:pPr>
            <a:r>
              <a:rPr lang="el-GR" sz="1800"/>
              <a:t>‘’ ποτε πρεπει να χρησιμοποιουμε dbscan και ποτε οχι, σε ποιες περιπτωσεις αλλες μεθοδοι ειναι καλυτεροι για clustering’’</a:t>
            </a:r>
            <a:endParaRPr lang="el-GR" sz="1800"/>
          </a:p>
          <a:p>
            <a:pPr>
              <a:lnSpc>
                <a:spcPct val="110000"/>
              </a:lnSpc>
            </a:pPr>
            <a:endParaRPr lang="el-GR" sz="1100" dirty="0"/>
          </a:p>
        </p:txBody>
      </p:sp>
      <p:pic>
        <p:nvPicPr>
          <p:cNvPr id="6" name="Εικόνα 5" descr="Εικόνα που περιέχει κείμενο, στιγμιότυπο οθόνης, γραμματοσειρά, αριθμός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800" y="-1"/>
            <a:ext cx="6468200" cy="6858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Εικόνα 12" descr="Εικόνα που περιέχει κείμενο, στιγμιότυπο οθόνης, γραμματοσειρά, αριθμός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108152" y="324233"/>
            <a:ext cx="10728322" cy="1477328"/>
          </a:xfrm>
        </p:spPr>
        <p:txBody>
          <a:bodyPr/>
          <a:lstStyle/>
          <a:p>
            <a:r>
              <a:rPr lang="el-GR" dirty="0"/>
              <a:t>Νέα </a:t>
            </a:r>
            <a:r>
              <a:rPr lang="en-US" dirty="0"/>
              <a:t>Hierarchical Clustering Tools</a:t>
            </a:r>
            <a:endParaRPr lang="el-GR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108156" y="1022555"/>
            <a:ext cx="11340170" cy="572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3100" dirty="0"/>
              <a:t>Προστέθηκαν ιεραρχικοί αλγόριθμοι:</a:t>
            </a:r>
            <a:endParaRPr lang="el-GR" sz="3100" dirty="0"/>
          </a:p>
          <a:p>
            <a:pPr marL="0" indent="0">
              <a:buNone/>
            </a:pPr>
            <a:r>
              <a:rPr lang="en-US" dirty="0"/>
              <a:t> single linkage, complete linkage, average linkage, Ward linkage</a:t>
            </a:r>
            <a:r>
              <a:rPr lang="el-GR" dirty="0"/>
              <a:t> και τεκμηρίωση για αυτούς 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 Ο </a:t>
            </a:r>
            <a:r>
              <a:rPr lang="en-US" dirty="0"/>
              <a:t>agent </a:t>
            </a:r>
            <a:r>
              <a:rPr lang="el-GR" dirty="0"/>
              <a:t>μπορεί να επιλέγει κατάλληλο </a:t>
            </a:r>
            <a:r>
              <a:rPr lang="en-US" dirty="0"/>
              <a:t>linkage </a:t>
            </a:r>
            <a:r>
              <a:rPr lang="el-GR" dirty="0"/>
              <a:t>ανάλογα με τα χαρακτηριστικά των δεδομένων</a:t>
            </a:r>
            <a:endParaRPr lang="el-GR" dirty="0"/>
          </a:p>
          <a:p>
            <a:pPr marL="0" indent="0">
              <a:buNone/>
            </a:pPr>
            <a:r>
              <a:rPr lang="el-GR" dirty="0"/>
              <a:t> Υποστηρίζει ανίχνευση </a:t>
            </a:r>
            <a:r>
              <a:rPr lang="en-US" dirty="0"/>
              <a:t>clusters </a:t>
            </a:r>
            <a:r>
              <a:rPr lang="el-GR" dirty="0"/>
              <a:t>με διαφορετικά σχήματα</a:t>
            </a:r>
            <a:endParaRPr lang="el-GR" dirty="0"/>
          </a:p>
          <a:p>
            <a:pPr marL="0" indent="0">
              <a:buNone/>
            </a:pPr>
            <a:r>
              <a:rPr lang="el-GR" dirty="0"/>
              <a:t> Ο </a:t>
            </a:r>
            <a:r>
              <a:rPr lang="en-US" dirty="0"/>
              <a:t>agent </a:t>
            </a:r>
            <a:r>
              <a:rPr lang="el-GR" dirty="0"/>
              <a:t>αιτιολογεί την επιλογή βάσει πυκνότητας &amp; σχήματος </a:t>
            </a:r>
            <a:r>
              <a:rPr lang="en-US" dirty="0"/>
              <a:t>cluster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l-GR" dirty="0"/>
              <a:t>Ρωτήσαμε:</a:t>
            </a:r>
            <a:endParaRPr lang="el-GR" dirty="0"/>
          </a:p>
          <a:p>
            <a:pPr marL="0" indent="0">
              <a:buNone/>
            </a:pPr>
            <a:r>
              <a:rPr lang="el-GR" dirty="0"/>
              <a:t>‘’</a:t>
            </a:r>
            <a:r>
              <a:rPr lang="en-US" dirty="0"/>
              <a:t>now do same for linkage, which linkage expect to be the best in this dataset?</a:t>
            </a:r>
            <a:r>
              <a:rPr lang="el-GR" dirty="0"/>
              <a:t>’’</a:t>
            </a:r>
            <a:endParaRPr lang="en-US" dirty="0"/>
          </a:p>
          <a:p>
            <a:pPr marL="0" indent="0">
              <a:buNone/>
            </a:pPr>
            <a:endParaRPr lang="el-G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Θέση περιεχομένου 4" descr="Εικόνα που περιέχει κείμενο, γραμματοσειρά, γραμμή, στιγμιότυπο οθόνης&#10;&#10;Το περιεχόμενο που δημιουργείται από AI ενδέχεται να είναι εσφαλμένο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1"/>
            <a:ext cx="12192000" cy="1767110"/>
          </a:xfrm>
        </p:spPr>
      </p:pic>
      <p:pic>
        <p:nvPicPr>
          <p:cNvPr id="7" name="Εικόνα 6" descr="Εικόνα που περιέχει κείμενο, στιγμιότυπο οθόνης, γραμματοσειρά, αριθμός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86578"/>
            <a:ext cx="6468533" cy="2778679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διάγραμμα, γράφημα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999" y="4086579"/>
            <a:ext cx="5842001" cy="2764520"/>
          </a:xfrm>
          <a:prstGeom prst="rect">
            <a:avLst/>
          </a:prstGeom>
        </p:spPr>
      </p:pic>
      <p:pic>
        <p:nvPicPr>
          <p:cNvPr id="11" name="Εικόνα 10" descr="Εικόνα που περιέχει κείμενο, στιγμιότυπο οθόνης, γραμματοσειρά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74011"/>
            <a:ext cx="12192001" cy="23125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358755" y="201511"/>
            <a:ext cx="10728322" cy="1477328"/>
          </a:xfrm>
        </p:spPr>
        <p:txBody>
          <a:bodyPr/>
          <a:lstStyle/>
          <a:p>
            <a:r>
              <a:rPr lang="el-GR" dirty="0"/>
              <a:t>Προσθήκη δικού μας αλγόριθμου</a:t>
            </a:r>
            <a:r>
              <a:rPr lang="en-US" dirty="0"/>
              <a:t> density</a:t>
            </a:r>
            <a:r>
              <a:rPr lang="el-GR" dirty="0"/>
              <a:t> </a:t>
            </a:r>
            <a:r>
              <a:rPr lang="en-US" dirty="0"/>
              <a:t>k-means </a:t>
            </a:r>
            <a:r>
              <a:rPr lang="el-GR" dirty="0"/>
              <a:t>για εύρεση </a:t>
            </a:r>
            <a:r>
              <a:rPr lang="en-US" dirty="0"/>
              <a:t>outlier</a:t>
            </a:r>
            <a:r>
              <a:rPr lang="el-GR" dirty="0"/>
              <a:t> και τεκμηρίωση για τον αλγόριθμο</a:t>
            </a:r>
            <a:endParaRPr lang="el-GR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127819" y="1354667"/>
            <a:ext cx="11928713" cy="5301821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Ρωτήσαμε:</a:t>
            </a:r>
            <a:endParaRPr lang="el-GR" dirty="0"/>
          </a:p>
          <a:p>
            <a:pPr marL="0" indent="0">
              <a:buNone/>
            </a:pPr>
            <a:r>
              <a:rPr lang="el-GR" dirty="0"/>
              <a:t>‘’</a:t>
            </a:r>
            <a:r>
              <a:rPr lang="en-US" dirty="0"/>
              <a:t> find the outliers for C:\Programming</a:t>
            </a:r>
            <a:r>
              <a:rPr lang="el-GR" dirty="0"/>
              <a:t>Εργασία Αποθήκες-Εξόρυξη Δεδομένων\</a:t>
            </a:r>
            <a:r>
              <a:rPr lang="en-US" dirty="0"/>
              <a:t>LLM\</a:t>
            </a:r>
            <a:r>
              <a:rPr lang="en-US" dirty="0" err="1"/>
              <a:t>DaMi</a:t>
            </a:r>
            <a:r>
              <a:rPr lang="en-US" dirty="0"/>
              <a:t>\data\</a:t>
            </a:r>
            <a:r>
              <a:rPr lang="en-US" dirty="0" err="1"/>
              <a:t>synthetic_datasets</a:t>
            </a:r>
            <a:r>
              <a:rPr lang="en-US" dirty="0"/>
              <a:t>\</a:t>
            </a:r>
            <a:r>
              <a:rPr lang="en-US" dirty="0" err="1"/>
              <a:t>synth_diagonal</a:t>
            </a:r>
            <a:r>
              <a:rPr lang="en-US" dirty="0"/>
              <a:t>\data.txt</a:t>
            </a:r>
            <a:r>
              <a:rPr lang="el-GR" dirty="0"/>
              <a:t>’’</a:t>
            </a:r>
            <a:endParaRPr lang="en-US" dirty="0"/>
          </a:p>
          <a:p>
            <a:pPr marL="0" indent="0">
              <a:buNone/>
            </a:pPr>
            <a:endParaRPr lang="el-GR" dirty="0"/>
          </a:p>
        </p:txBody>
      </p:sp>
      <p:pic>
        <p:nvPicPr>
          <p:cNvPr id="5" name="Εικόνα 4" descr="Εικόνα που περιέχει κείμενο, γραμματοσειρά, στιγμιότυπο οθόνης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66220"/>
            <a:ext cx="12192000" cy="42917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 descr="Εικόνα που περιέχει κείμενο, διάγραμμα, χάρτης, γράφημα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34756" cy="6858000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διάγραμμα, γραμμή, στιγμιότυπο οθόνης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756" y="0"/>
            <a:ext cx="645724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31839" y="807337"/>
            <a:ext cx="10728322" cy="1496760"/>
          </a:xfrm>
        </p:spPr>
        <p:txBody>
          <a:bodyPr/>
          <a:lstStyle/>
          <a:p>
            <a:pPr algn="ctr"/>
            <a:r>
              <a:rPr lang="el-GR" dirty="0"/>
              <a:t>Ευχαριστούμε για την προσοχή σας.</a:t>
            </a:r>
            <a:endParaRPr lang="el-GR" dirty="0"/>
          </a:p>
        </p:txBody>
      </p:sp>
      <p:pic>
        <p:nvPicPr>
          <p:cNvPr id="7" name="Εικόνα 6" descr="Εικόνα που περιέχει κείμενο, στιγμιότυπο οθόνης, γραμμή, άλγεβρα&#10;&#10;Το περιεχόμενο που δημιουργείται από AI ενδέχεται να είναι εσφαλμένο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7626"/>
            <a:ext cx="12192000" cy="35672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Sagona Book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4773</Words>
  <Application>WPS Presentation</Application>
  <PresentationFormat>Ευρεία οθόνη</PresentationFormat>
  <Paragraphs>112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The Hand Extrablack</vt:lpstr>
      <vt:lpstr>Mongolian Baiti</vt:lpstr>
      <vt:lpstr>Avenir Next LT Pro</vt:lpstr>
      <vt:lpstr>Liberation Mono</vt:lpstr>
      <vt:lpstr>Sagona Book</vt:lpstr>
      <vt:lpstr>Microsoft YaHei</vt:lpstr>
      <vt:lpstr>Arial Unicode MS</vt:lpstr>
      <vt:lpstr>Aptos</vt:lpstr>
      <vt:lpstr>Segoe UI</vt:lpstr>
      <vt:lpstr>BlobVTI</vt:lpstr>
      <vt:lpstr>Παρουσίαση εργασίας.   Αποθήκες και Εξόρυξη Δεδομένων</vt:lpstr>
      <vt:lpstr>Χαρακτηριστικά Δεδομένων και Προκλήσεις</vt:lpstr>
      <vt:lpstr>Προεπεξεργασία Δεδομένων</vt:lpstr>
      <vt:lpstr>PowerPoint 演示文稿</vt:lpstr>
      <vt:lpstr>Two-Stage Clustering με k-means: Micro → Macro</vt:lpstr>
      <vt:lpstr>Distance analysis and dynamic threshold density algorithm</vt:lpstr>
      <vt:lpstr>Density vs Adaptive</vt:lpstr>
      <vt:lpstr>PowerPoint 演示文稿</vt:lpstr>
      <vt:lpstr>AI Data-Mining Agent</vt:lpstr>
      <vt:lpstr>PowerPoint 演示文稿</vt:lpstr>
      <vt:lpstr>Νέα Hierarchical Clustering Tools</vt:lpstr>
      <vt:lpstr>PowerPoint 演示文稿</vt:lpstr>
      <vt:lpstr>Προσθήκη δικού μας αλγόριθμου density k-means για εύρεση outlier και τεκμηρίωση για τον αλγόριθμο</vt:lpstr>
      <vt:lpstr>PowerPoint 演示文稿</vt:lpstr>
      <vt:lpstr>Ευχαριστούμε για την προσοχή σας.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Γρηγόρης Κωστίλης</dc:creator>
  <cp:lastModifiedBy>aster</cp:lastModifiedBy>
  <cp:revision>41</cp:revision>
  <dcterms:created xsi:type="dcterms:W3CDTF">2026-01-03T17:09:00Z</dcterms:created>
  <dcterms:modified xsi:type="dcterms:W3CDTF">2026-01-04T16:36:46Z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DC8665008F374985A15CF17A81BC3778_12</vt:lpwstr>
  </property>
  <property fmtid="{D5CDD505-2E9C-101B-9397-08002B2CF9AE}" pid="3" name="KSOProductBuildVer">
    <vt:lpwstr>2057-12.2.0.23196</vt:lpwstr>
  </property>
</Properties>
</file>